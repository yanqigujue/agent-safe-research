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1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1209" y="1026029"/>
            <a:ext cx="6097209" cy="1"/>
            <a:chOff x="-1209" y="1026029"/>
            <a:chExt cx="6097209" cy="0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572967" y="1026029"/>
              <a:ext cx="2338091" cy="0"/>
            </a:xfrm>
            <a:prstGeom prst="line">
              <a:avLst/>
            </a:prstGeom>
            <a:ln w="50800"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1524000" y="381000"/>
            <a:ext cx="8763000" cy="533400"/>
          </a:xfrm>
          <a:prstGeom prst="rect">
            <a:avLst/>
          </a:prstGeom>
          <a:noFill/>
        </p:spPr>
        <p:txBody>
          <a:bodyPr wrap="square" lIns="101600" tIns="63500" rIns="101600" bIns="63500" rtlCol="0">
            <a:noAutofit/>
          </a:bodyPr>
          <a:lstStyle/>
          <a:p>
            <a:r>
              <a:rPr lang="en-US" altLang="en-US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1-3</a:t>
            </a:r>
            <a:r>
              <a:rPr lang="zh-CN" altLang="en-US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层：先把</a:t>
            </a:r>
            <a:r>
              <a:rPr lang="en-US" altLang="zh-CN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 </a:t>
            </a:r>
            <a:r>
              <a:rPr lang="zh-CN" altLang="en-US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动作拆开看</a:t>
            </a:r>
            <a:endParaRPr lang="zh-CN" altLang="en-US" sz="23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哈工大logo的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3" name="AFW_lead_1"/>
          <p:cNvSpPr txBox="1"/>
          <p:nvPr/>
        </p:nvSpPr>
        <p:spPr>
          <a:xfrm>
            <a:off x="1016000" y="1168400"/>
            <a:ext cx="10160000" cy="40386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核心不是问</a:t>
            </a:r>
            <a:r>
              <a:rPr lang="en-US" altLang="zh-CN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这个动作能不能执行</a:t>
            </a:r>
            <a:r>
              <a:rPr lang="en-US" altLang="zh-CN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，而是问</a:t>
            </a:r>
            <a:r>
              <a:rPr lang="en-US" altLang="zh-CN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动作里的每个字段有没有对应授权</a:t>
            </a:r>
            <a:r>
              <a:rPr lang="en-US" altLang="zh-CN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1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FW_box_1"/>
          <p:cNvSpPr/>
          <p:nvPr/>
        </p:nvSpPr>
        <p:spPr>
          <a:xfrm>
            <a:off x="889000" y="1905000"/>
            <a:ext cx="3175000" cy="1714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安全闸门</a:t>
            </a:r>
            <a:endParaRPr lang="en-US" altLang="zh-CN" sz="14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AFW CapGuard 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接在执行前。它读取</a:t>
            </a:r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 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想做的动作，逐字段给出</a:t>
            </a:r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allow / block / abstain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FW_box_2"/>
          <p:cNvSpPr/>
          <p:nvPr/>
        </p:nvSpPr>
        <p:spPr>
          <a:xfrm>
            <a:off x="4508500" y="1905000"/>
            <a:ext cx="3175000" cy="17145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Capability</a:t>
            </a:r>
            <a:endParaRPr lang="en-US" altLang="zh-CN" sz="14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RAG 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metadata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approval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prior-step output 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统一翻译成谁能授权什么。</a:t>
            </a:r>
            <a:endParaRPr lang="zh-CN" altLang="en-US" sz="14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FW_box_3"/>
          <p:cNvSpPr/>
          <p:nvPr/>
        </p:nvSpPr>
        <p:spPr>
          <a:xfrm>
            <a:off x="8128000" y="1905000"/>
            <a:ext cx="3175000" cy="17145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Need</a:t>
            </a:r>
            <a:endParaRPr lang="en-US" altLang="zh-CN" sz="1400">
              <a:solidFill>
                <a:srgbClr val="7C2D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把动作字段翻译成这个字段需要什么授权。例如</a:t>
            </a:r>
            <a:r>
              <a:rPr lang="en-US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risk_level </a:t>
            </a:r>
            <a:r>
              <a:rPr lang="zh-CN" altLang="en-US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</a:t>
            </a:r>
            <a:r>
              <a:rPr lang="en-US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risk_assessment_authority</a:t>
            </a:r>
            <a:r>
              <a:rPr lang="zh-CN" altLang="en-US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>
              <a:solidFill>
                <a:srgbClr val="7C2D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FW_summary_1"/>
          <p:cNvSpPr/>
          <p:nvPr/>
        </p:nvSpPr>
        <p:spPr>
          <a:xfrm>
            <a:off x="1460500" y="4127500"/>
            <a:ext cx="9271000" cy="1117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大白话：</a:t>
            </a:r>
            <a:r>
              <a:rPr lang="en-US" altLang="zh-CN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Capability </a:t>
            </a:r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是手里的资格证；</a:t>
            </a:r>
            <a:r>
              <a:rPr lang="en-US" altLang="zh-CN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Need </a:t>
            </a:r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是岗位要求。</a:t>
            </a:r>
            <a:r>
              <a:rPr lang="en-US" altLang="zh-CN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CapGuard </a:t>
            </a:r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做的就是逐字段查证件是否对口。</a:t>
            </a:r>
            <a:endParaRPr lang="zh-CN" altLang="en-US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FW_footer"/>
          <p:cNvSpPr txBox="1"/>
          <p:nvPr/>
        </p:nvSpPr>
        <p:spPr>
          <a:xfrm>
            <a:off x="10414000" y="6350000"/>
            <a:ext cx="1397000" cy="2806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 / 3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1209" y="1026029"/>
            <a:ext cx="6097209" cy="1"/>
            <a:chOff x="-1209" y="1026029"/>
            <a:chExt cx="6097209" cy="0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572967" y="1026029"/>
              <a:ext cx="2338091" cy="0"/>
            </a:xfrm>
            <a:prstGeom prst="line">
              <a:avLst/>
            </a:prstGeom>
            <a:ln w="50800"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1524000" y="381000"/>
            <a:ext cx="8763000" cy="533400"/>
          </a:xfrm>
          <a:prstGeom prst="rect">
            <a:avLst/>
          </a:prstGeom>
          <a:noFill/>
        </p:spPr>
        <p:txBody>
          <a:bodyPr wrap="square" lIns="101600" tIns="63500" rIns="101600" bIns="63500" rtlCol="0">
            <a:noAutofit/>
          </a:bodyPr>
          <a:lstStyle/>
          <a:p>
            <a:r>
              <a:rPr lang="en-US" altLang="en-US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4-6</a:t>
            </a:r>
            <a:r>
              <a:rPr lang="zh-CN" altLang="en-US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层：判定时必须看角色</a:t>
            </a:r>
            <a:endParaRPr lang="zh-CN" altLang="en-US" sz="23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哈工大logo的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3" name="AFW_lead_2"/>
          <p:cNvSpPr txBox="1"/>
          <p:nvPr/>
        </p:nvSpPr>
        <p:spPr>
          <a:xfrm>
            <a:off x="1016000" y="1168400"/>
            <a:ext cx="10160000" cy="40386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</a:rPr>
              <a:t>普通边界检查只看范围有没有越界；我们还看来源有没有资格授权这个语义角色。</a:t>
            </a:r>
            <a:endParaRPr lang="zh-CN" altLang="en-US" b="1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FW_box_4"/>
          <p:cNvSpPr/>
          <p:nvPr/>
        </p:nvSpPr>
        <p:spPr>
          <a:xfrm>
            <a:off x="889000" y="1841500"/>
            <a:ext cx="3302000" cy="3175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5B4F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算法内核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授权覆盖不了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Need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义务没履行：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有反向禁止项：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abstain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全部满足：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role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field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time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FW_box_5"/>
          <p:cNvSpPr/>
          <p:nvPr/>
        </p:nvSpPr>
        <p:spPr>
          <a:xfrm>
            <a:off x="4445000" y="1841500"/>
            <a:ext cx="3302000" cy="317500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ACC1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baseline 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为什么会漏</a:t>
            </a:r>
            <a:endParaRPr lang="en-US" altLang="zh-CN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如果攻击只改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required_role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，不改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field / scope / source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boundary-only 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会觉得没越界。</a:t>
            </a:r>
            <a:endParaRPr lang="en-US" altLang="zh-CN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CapGuard 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会继续问：这个来源真的有这个角色吗？</a:t>
            </a:r>
            <a:endParaRPr lang="zh-CN" altLang="en-US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FW_box_6"/>
          <p:cNvSpPr/>
          <p:nvPr/>
        </p:nvSpPr>
        <p:spPr>
          <a:xfrm>
            <a:off x="8001000" y="1841500"/>
            <a:ext cx="3302000" cy="317500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F9A8D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Minimal Witness</a:t>
            </a:r>
            <a:endParaRPr lang="en-US" altLang="zh-CN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不只输出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allow/block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还说明：哪几个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capability 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支撑了字段，缺哪个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role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，哪些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obligation 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没履行，审计上下文压缩了多少。</a:t>
            </a:r>
            <a:endParaRPr lang="zh-CN" altLang="en-US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FW_contrast_2"/>
          <p:cNvSpPr txBox="1"/>
          <p:nvPr/>
        </p:nvSpPr>
        <p:spPr>
          <a:xfrm>
            <a:off x="1168400" y="5397500"/>
            <a:ext cx="9906000" cy="68072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创新点落在这里：边界没错，不代表授权语义没错；粗暴拦截安全但太保守，字段级语义授权才能兼顾安全和可用。</a:t>
            </a:r>
            <a:endParaRPr lang="zh-CN" altLang="en-US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FW_footer"/>
          <p:cNvSpPr txBox="1"/>
          <p:nvPr/>
        </p:nvSpPr>
        <p:spPr>
          <a:xfrm>
            <a:off x="10414000" y="6350000"/>
            <a:ext cx="1397000" cy="2806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 / 3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1209" y="1026029"/>
            <a:ext cx="6097209" cy="1"/>
            <a:chOff x="-1209" y="1026029"/>
            <a:chExt cx="6097209" cy="0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572967" y="1026029"/>
              <a:ext cx="2338091" cy="0"/>
            </a:xfrm>
            <a:prstGeom prst="line">
              <a:avLst/>
            </a:prstGeom>
            <a:ln w="50800"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1524000" y="381000"/>
            <a:ext cx="8763000" cy="533400"/>
          </a:xfrm>
          <a:prstGeom prst="rect">
            <a:avLst/>
          </a:prstGeom>
          <a:noFill/>
        </p:spPr>
        <p:txBody>
          <a:bodyPr wrap="square" lIns="101600" tIns="63500" rIns="101600" bIns="63500" rtlCol="0">
            <a:noAutofit/>
          </a:bodyPr>
          <a:lstStyle/>
          <a:p>
            <a:r>
              <a:rPr lang="zh-CN" altLang="en-US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3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层：只修坏字段，不砍整个动作</a:t>
            </a:r>
            <a:endParaRPr lang="zh-CN" altLang="en-US" sz="23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哈工大logo的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3" name="AFW_lead_3"/>
          <p:cNvSpPr txBox="1"/>
          <p:nvPr/>
        </p:nvSpPr>
        <p:spPr>
          <a:xfrm>
            <a:off x="1016000" y="1168400"/>
            <a:ext cx="10160000" cy="40386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</a:rPr>
              <a:t>字段级修复是动作不变性的落点：合法字段照常执行，没授权字段删掉或交给人审。</a:t>
            </a:r>
            <a:endParaRPr lang="zh-CN" altLang="en-US" b="1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FW_original_action"/>
          <p:cNvSpPr/>
          <p:nvPr/>
        </p:nvSpPr>
        <p:spPr>
          <a:xfrm>
            <a:off x="889000" y="1841500"/>
            <a:ext cx="3111500" cy="2667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原始动作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risk_summary</a:t>
            </a:r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：线路正常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report_style</a:t>
            </a:r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：简洁版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risk_level</a:t>
            </a:r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low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public_publish</a:t>
            </a:r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FW_capguard_decision"/>
          <p:cNvSpPr/>
          <p:nvPr/>
        </p:nvSpPr>
        <p:spPr>
          <a:xfrm>
            <a:off x="4572000" y="1841500"/>
            <a:ext cx="3048000" cy="2667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67E8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en-US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CapGuard 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risk_summary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report_style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risk_level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public_publish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FW_fixed_action"/>
          <p:cNvSpPr/>
          <p:nvPr/>
        </p:nvSpPr>
        <p:spPr>
          <a:xfrm>
            <a:off x="8191500" y="1841500"/>
            <a:ext cx="3111500" cy="2667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修复后动作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risk_summary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report_style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risk_level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public_publish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partial_human_review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FW_arrow_1"/>
          <p:cNvSpPr/>
          <p:nvPr/>
        </p:nvSpPr>
        <p:spPr>
          <a:xfrm>
            <a:off x="4089400" y="2984500"/>
            <a:ext cx="381000" cy="355600"/>
          </a:xfrm>
          <a:prstGeom prst="rightArrow">
            <a:avLst/>
          </a:prstGeom>
          <a:solidFill>
            <a:srgbClr val="6B728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AFW_arrow_2"/>
          <p:cNvSpPr/>
          <p:nvPr/>
        </p:nvSpPr>
        <p:spPr>
          <a:xfrm>
            <a:off x="7747000" y="2984500"/>
            <a:ext cx="381000" cy="355600"/>
          </a:xfrm>
          <a:prstGeom prst="rightArrow">
            <a:avLst/>
          </a:prstGeom>
          <a:solidFill>
            <a:srgbClr val="6B728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AFW_bottom_3"/>
          <p:cNvSpPr/>
          <p:nvPr/>
        </p:nvSpPr>
        <p:spPr>
          <a:xfrm>
            <a:off x="1016000" y="5080000"/>
            <a:ext cx="10160000" cy="889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b="1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汇报时可以这样说：安全系统不应该一紧张就把</a:t>
            </a:r>
            <a:r>
              <a:rPr lang="en-US" altLang="zh-CN" b="1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 </a:t>
            </a:r>
            <a:r>
              <a:rPr lang="zh-CN" altLang="en-US" b="1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全拦住。我们的做法是逐字段查授权，有证的继续干，没证的别自动干。</a:t>
            </a:r>
            <a:endParaRPr lang="zh-CN" altLang="en-US" b="1">
              <a:solidFill>
                <a:srgbClr val="7835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FW_footer"/>
          <p:cNvSpPr txBox="1"/>
          <p:nvPr/>
        </p:nvSpPr>
        <p:spPr>
          <a:xfrm>
            <a:off x="10414000" y="6350000"/>
            <a:ext cx="1397000" cy="2806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3 / 3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</Words>
  <Application>WPS 演示</Application>
  <PresentationFormat>宽屏</PresentationFormat>
  <Paragraphs>76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断南</cp:lastModifiedBy>
  <cp:revision>163</cp:revision>
  <dcterms:created xsi:type="dcterms:W3CDTF">2019-06-19T02:08:00Z</dcterms:created>
  <dcterms:modified xsi:type="dcterms:W3CDTF">2026-07-02T04:51:26Z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438993E9BEDF45ED94979E3569B41C5B_13</vt:lpwstr>
  </property>
</Properties>
</file>