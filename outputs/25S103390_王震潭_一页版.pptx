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lang="en-US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AttriGuard </a:t>
            </a:r>
            <a:r>
              <a:rPr lang="zh-CN" altLang="en-US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一页总结：动作归因防御</a:t>
            </a:r>
            <a:r>
              <a:rPr lang="en-US" altLang="zh-CN" sz="2200" b="1">
                <a:solidFill>
                  <a:srgbClr val="0056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IPI</a:t>
            </a:r>
            <a:endParaRPr lang="en-US" altLang="zh-CN" sz="2200" b="1">
              <a:solidFill>
                <a:srgbClr val="0056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800" b="1">
                <a:solidFill>
                  <a:srgbClr val="80664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01 / 01</a:t>
            </a:r>
            <a:endParaRPr lang="en-US" sz="800" b="1">
              <a:solidFill>
                <a:srgbClr val="80664C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1219200"/>
            <a:ext cx="9334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00000"/>
                </a:solidFill>
              </a:rPr>
              <a:t>一句话：不判断</a:t>
            </a:r>
            <a:r>
              <a:rPr lang="en-US" altLang="zh-CN" sz="1500" b="1">
                <a:solidFill>
                  <a:srgbClr val="000000"/>
                </a:solidFill>
              </a:rPr>
              <a:t>“</a:t>
            </a:r>
            <a:r>
              <a:rPr lang="zh-CN" altLang="en-US" sz="1500" b="1">
                <a:solidFill>
                  <a:srgbClr val="000000"/>
                </a:solidFill>
              </a:rPr>
              <a:t>外部文本像不像攻击</a:t>
            </a:r>
            <a:r>
              <a:rPr lang="en-US" altLang="zh-CN" sz="1500" b="1">
                <a:solidFill>
                  <a:srgbClr val="000000"/>
                </a:solidFill>
              </a:rPr>
              <a:t>”</a:t>
            </a:r>
            <a:r>
              <a:rPr lang="zh-CN" altLang="en-US" sz="1500" b="1">
                <a:solidFill>
                  <a:srgbClr val="000000"/>
                </a:solidFill>
              </a:rPr>
              <a:t>，而是在执行前做</a:t>
            </a:r>
            <a:r>
              <a:rPr lang="en-US" altLang="zh-CN" sz="1500" b="1">
                <a:solidFill>
                  <a:srgbClr val="000000"/>
                </a:solidFill>
              </a:rPr>
              <a:t> original / shadow </a:t>
            </a:r>
            <a:r>
              <a:rPr lang="zh-CN" altLang="en-US" sz="1500" b="1">
                <a:solidFill>
                  <a:srgbClr val="000000"/>
                </a:solidFill>
              </a:rPr>
              <a:t>反事实，验证工具调用是否仍由用户任务支持。</a:t>
            </a:r>
            <a:endParaRPr lang="zh-CN" altLang="en-US" sz="1500" b="1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4875" y="2000250"/>
            <a:ext cx="47625" cy="1381125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2000250"/>
            <a:ext cx="3095625" cy="1381125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76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F47C20"/>
                </a:solidFill>
              </a:rPr>
              <a:t>问题：</a:t>
            </a:r>
            <a:r>
              <a:rPr lang="en-US" altLang="zh-CN" sz="1400" b="1">
                <a:solidFill>
                  <a:srgbClr val="F47C20"/>
                </a:solidFill>
              </a:rPr>
              <a:t>IPI </a:t>
            </a:r>
            <a:r>
              <a:rPr lang="zh-CN" altLang="en-US" sz="1400" b="1">
                <a:solidFill>
                  <a:srgbClr val="F47C20"/>
                </a:solidFill>
              </a:rPr>
              <a:t>把数据伪装成指令</a:t>
            </a:r>
            <a:endParaRPr lang="zh-CN" altLang="en-US" sz="1400" b="1">
              <a:solidFill>
                <a:srgbClr val="F47C20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763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000000"/>
                </a:solidFill>
              </a:rPr>
              <a:t>恶意指令藏在网页、邮件、</a:t>
            </a:r>
            <a:r>
              <a:rPr lang="en-US" altLang="zh-CN" sz="1200" b="0">
                <a:solidFill>
                  <a:srgbClr val="000000"/>
                </a:solidFill>
              </a:rPr>
              <a:t>API </a:t>
            </a:r>
            <a:r>
              <a:rPr lang="zh-CN" altLang="en-US" sz="1200" b="0">
                <a:solidFill>
                  <a:srgbClr val="000000"/>
                </a:solidFill>
              </a:rPr>
              <a:t>结果中；输入语义检测容易被新</a:t>
            </a:r>
            <a:r>
              <a:rPr lang="en-US" altLang="zh-CN" sz="1200" b="0">
                <a:solidFill>
                  <a:srgbClr val="000000"/>
                </a:solidFill>
              </a:rPr>
              <a:t> payload </a:t>
            </a:r>
            <a:r>
              <a:rPr lang="zh-CN" altLang="en-US" sz="1200" b="0">
                <a:solidFill>
                  <a:srgbClr val="000000"/>
                </a:solidFill>
              </a:rPr>
              <a:t>绕过，关键风险是工具调用被不可信观察驱动。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24375" y="2000250"/>
            <a:ext cx="47625" cy="1381125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72000" y="2000250"/>
            <a:ext cx="3095625" cy="1381125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6958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00567A"/>
                </a:solidFill>
              </a:rPr>
              <a:t>方法：</a:t>
            </a:r>
            <a:r>
              <a:rPr lang="en-US" altLang="zh-CN" sz="1400" b="1">
                <a:solidFill>
                  <a:srgbClr val="00567A"/>
                </a:solidFill>
              </a:rPr>
              <a:t>Original vs Shadow</a:t>
            </a:r>
            <a:endParaRPr lang="en-US" altLang="zh-CN" sz="1400" b="1">
              <a:solidFill>
                <a:srgbClr val="00567A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958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000000"/>
                </a:solidFill>
              </a:rPr>
              <a:t>保留原执行历史，只削弱新增观察的控制力；</a:t>
            </a:r>
            <a:r>
              <a:rPr lang="en-US" altLang="zh-CN" sz="1200" b="0">
                <a:solidFill>
                  <a:srgbClr val="000000"/>
                </a:solidFill>
              </a:rPr>
              <a:t>teacher-forced replay </a:t>
            </a:r>
            <a:r>
              <a:rPr lang="zh-CN" altLang="en-US" sz="1200" b="0">
                <a:solidFill>
                  <a:srgbClr val="000000"/>
                </a:solidFill>
              </a:rPr>
              <a:t>后做</a:t>
            </a:r>
            <a:r>
              <a:rPr lang="en-US" altLang="zh-CN" sz="1200" b="0">
                <a:solidFill>
                  <a:srgbClr val="000000"/>
                </a:solidFill>
              </a:rPr>
              <a:t> fuzzy survival test</a:t>
            </a:r>
            <a:r>
              <a:rPr lang="zh-CN" altLang="en-US" sz="1200" b="0">
                <a:solidFill>
                  <a:srgbClr val="000000"/>
                </a:solidFill>
              </a:rPr>
              <a:t>，存活则执行，失败则阻断。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43875" y="2000250"/>
            <a:ext cx="47625" cy="1381125"/>
          </a:xfrm>
          <a:prstGeom prst="rect">
            <a:avLst/>
          </a:prstGeom>
          <a:solidFill>
            <a:srgbClr val="D94D4D"/>
          </a:solidFill>
          <a:ln w="0">
            <a:solidFill>
              <a:srgbClr val="D94D4D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91500" y="2000250"/>
            <a:ext cx="3095625" cy="1381125"/>
          </a:xfrm>
          <a:prstGeom prst="rect">
            <a:avLst/>
          </a:prstGeom>
          <a:solidFill>
            <a:srgbClr val="FFF0F0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315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1">
                <a:solidFill>
                  <a:srgbClr val="D94A4A"/>
                </a:solidFill>
              </a:rPr>
              <a:t>结果：</a:t>
            </a:r>
            <a:r>
              <a:rPr lang="en-US" altLang="zh-CN" sz="1400" b="1">
                <a:solidFill>
                  <a:srgbClr val="D94A4A"/>
                </a:solidFill>
              </a:rPr>
              <a:t>ASR </a:t>
            </a:r>
            <a:r>
              <a:rPr lang="zh-CN" altLang="en-US" sz="1400" b="1">
                <a:solidFill>
                  <a:srgbClr val="D94A4A"/>
                </a:solidFill>
              </a:rPr>
              <a:t>归零，</a:t>
            </a:r>
            <a:r>
              <a:rPr lang="en-US" altLang="zh-CN" sz="1400" b="1">
                <a:solidFill>
                  <a:srgbClr val="D94A4A"/>
                </a:solidFill>
              </a:rPr>
              <a:t>BU </a:t>
            </a:r>
            <a:r>
              <a:rPr lang="zh-CN" altLang="en-US" sz="1400" b="1">
                <a:solidFill>
                  <a:srgbClr val="D94A4A"/>
                </a:solidFill>
              </a:rPr>
              <a:t>基本保留</a:t>
            </a:r>
            <a:endParaRPr lang="zh-CN" altLang="en-US" sz="1400" b="1">
              <a:solidFill>
                <a:srgbClr val="D94A4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315325" y="2457450"/>
            <a:ext cx="2838450" cy="88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0">
                <a:solidFill>
                  <a:srgbClr val="000000"/>
                </a:solidFill>
              </a:rPr>
              <a:t>AgentDojo </a:t>
            </a:r>
            <a:r>
              <a:rPr lang="zh-CN" altLang="en-US" sz="1200" b="0">
                <a:solidFill>
                  <a:srgbClr val="000000"/>
                </a:solidFill>
              </a:rPr>
              <a:t>四类静态攻击主要实验</a:t>
            </a:r>
            <a:r>
              <a:rPr lang="en-US" altLang="zh-CN" sz="1200" b="0">
                <a:solidFill>
                  <a:srgbClr val="000000"/>
                </a:solidFill>
              </a:rPr>
              <a:t> ASR=0%</a:t>
            </a:r>
            <a:r>
              <a:rPr lang="zh-CN" altLang="en-US" sz="1200" b="0">
                <a:solidFill>
                  <a:srgbClr val="000000"/>
                </a:solidFill>
              </a:rPr>
              <a:t>；</a:t>
            </a:r>
            <a:r>
              <a:rPr lang="en-US" altLang="zh-CN" sz="1200" b="0">
                <a:solidFill>
                  <a:srgbClr val="000000"/>
                </a:solidFill>
              </a:rPr>
              <a:t>BU </a:t>
            </a:r>
            <a:r>
              <a:rPr lang="zh-CN" altLang="en-US" sz="1200" b="0">
                <a:solidFill>
                  <a:srgbClr val="000000"/>
                </a:solidFill>
              </a:rPr>
              <a:t>与无防御接近。自适应攻击仍为</a:t>
            </a:r>
            <a:r>
              <a:rPr lang="en-US" altLang="zh-CN" sz="1200" b="0">
                <a:solidFill>
                  <a:srgbClr val="000000"/>
                </a:solidFill>
              </a:rPr>
              <a:t> Gemini 6.56%</a:t>
            </a:r>
            <a:r>
              <a:rPr lang="zh-CN" altLang="en-US" sz="1200" b="0">
                <a:solidFill>
                  <a:srgbClr val="000000"/>
                </a:solidFill>
              </a:rPr>
              <a:t>、</a:t>
            </a:r>
            <a:r>
              <a:rPr lang="en-US" altLang="zh-CN" sz="1200" b="0">
                <a:solidFill>
                  <a:srgbClr val="000000"/>
                </a:solidFill>
              </a:rPr>
              <a:t>Llama 9.84%</a:t>
            </a:r>
            <a:r>
              <a:rPr lang="zh-CN" altLang="en-US" sz="1200" b="0">
                <a:solidFill>
                  <a:srgbClr val="000000"/>
                </a:solidFill>
              </a:rPr>
              <a:t>。</a:t>
            </a:r>
            <a:endParaRPr lang="zh-CN" altLang="en-US" sz="1200" b="0">
              <a:solidFill>
                <a:srgbClr val="00000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47750" y="4095750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00" b="1">
                <a:solidFill>
                  <a:srgbClr val="00567A"/>
                </a:solidFill>
                <a:cs typeface="微软雅黑" panose="020B0503020204020204" charset="-122"/>
              </a:rPr>
              <a:t>我的评价</a:t>
            </a:r>
            <a:endParaRPr lang="zh-CN" sz="1700" b="1">
              <a:solidFill>
                <a:srgbClr val="00567A"/>
              </a:solidFill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714625" y="4048125"/>
            <a:ext cx="8096250" cy="78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0">
                <a:solidFill>
                  <a:srgbClr val="000000"/>
                </a:solidFill>
              </a:rPr>
              <a:t>贡献是把</a:t>
            </a:r>
            <a:r>
              <a:rPr lang="en-US" altLang="zh-CN" sz="1400" b="0">
                <a:solidFill>
                  <a:srgbClr val="000000"/>
                </a:solidFill>
              </a:rPr>
              <a:t> IPI </a:t>
            </a:r>
            <a:r>
              <a:rPr lang="zh-CN" altLang="en-US" sz="1400" b="0">
                <a:solidFill>
                  <a:srgbClr val="000000"/>
                </a:solidFill>
              </a:rPr>
              <a:t>防御从</a:t>
            </a:r>
            <a:r>
              <a:rPr lang="en-US" altLang="zh-CN" sz="1400" b="0">
                <a:solidFill>
                  <a:srgbClr val="000000"/>
                </a:solidFill>
              </a:rPr>
              <a:t>“</a:t>
            </a:r>
            <a:r>
              <a:rPr lang="zh-CN" altLang="en-US" sz="1400" b="0">
                <a:solidFill>
                  <a:srgbClr val="000000"/>
                </a:solidFill>
              </a:rPr>
              <a:t>文本分类</a:t>
            </a:r>
            <a:r>
              <a:rPr lang="en-US" altLang="zh-CN" sz="1400" b="0">
                <a:solidFill>
                  <a:srgbClr val="000000"/>
                </a:solidFill>
              </a:rPr>
              <a:t>”</a:t>
            </a:r>
            <a:r>
              <a:rPr lang="zh-CN" altLang="en-US" sz="1400" b="0">
                <a:solidFill>
                  <a:srgbClr val="000000"/>
                </a:solidFill>
              </a:rPr>
              <a:t>推进到</a:t>
            </a:r>
            <a:r>
              <a:rPr lang="en-US" altLang="zh-CN" sz="1400" b="0">
                <a:solidFill>
                  <a:srgbClr val="000000"/>
                </a:solidFill>
              </a:rPr>
              <a:t> action-level causal attribution</a:t>
            </a:r>
            <a:r>
              <a:rPr lang="zh-CN" altLang="en-US" sz="1400" b="0">
                <a:solidFill>
                  <a:srgbClr val="000000"/>
                </a:solidFill>
              </a:rPr>
              <a:t>，对未知</a:t>
            </a:r>
            <a:r>
              <a:rPr lang="en-US" altLang="zh-CN" sz="1400" b="0">
                <a:solidFill>
                  <a:srgbClr val="000000"/>
                </a:solidFill>
              </a:rPr>
              <a:t> payload </a:t>
            </a:r>
            <a:r>
              <a:rPr lang="zh-CN" altLang="en-US" sz="1400" b="0">
                <a:solidFill>
                  <a:srgbClr val="000000"/>
                </a:solidFill>
              </a:rPr>
              <a:t>更有泛化希望；代价是每次调用需影子分支，长链路误报与延迟是落地瓶颈。</a:t>
            </a:r>
            <a:endParaRPr lang="zh-CN" altLang="en-US" sz="1400" b="0">
              <a:solidFill>
                <a:srgbClr val="00000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85875" y="5381625"/>
            <a:ext cx="9525000" cy="590550"/>
          </a:xfrm>
          <a:prstGeom prst="rect">
            <a:avLst/>
          </a:prstGeom>
          <a:solidFill>
            <a:srgbClr val="EAF8F1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0A565"/>
                </a:solidFill>
              </a:rPr>
              <a:t>讨论：把</a:t>
            </a:r>
            <a:r>
              <a:rPr lang="en-US" altLang="zh-CN" sz="1500" b="1">
                <a:solidFill>
                  <a:srgbClr val="00A565"/>
                </a:solidFill>
              </a:rPr>
              <a:t>“</a:t>
            </a:r>
            <a:r>
              <a:rPr lang="zh-CN" altLang="en-US" sz="1500" b="1">
                <a:solidFill>
                  <a:srgbClr val="00A565"/>
                </a:solidFill>
              </a:rPr>
              <a:t>阻断</a:t>
            </a:r>
            <a:r>
              <a:rPr lang="en-US" altLang="zh-CN" sz="1500" b="1">
                <a:solidFill>
                  <a:srgbClr val="00A565"/>
                </a:solidFill>
              </a:rPr>
              <a:t>”</a:t>
            </a:r>
            <a:r>
              <a:rPr lang="zh-CN" altLang="en-US" sz="1500" b="1">
                <a:solidFill>
                  <a:srgbClr val="00A565"/>
                </a:solidFill>
              </a:rPr>
              <a:t>改为</a:t>
            </a:r>
            <a:r>
              <a:rPr lang="en-US" altLang="zh-CN" sz="1500" b="1">
                <a:solidFill>
                  <a:srgbClr val="00A565"/>
                </a:solidFill>
              </a:rPr>
              <a:t>“</a:t>
            </a:r>
            <a:r>
              <a:rPr lang="zh-CN" altLang="en-US" sz="1500" b="1">
                <a:solidFill>
                  <a:srgbClr val="00A565"/>
                </a:solidFill>
              </a:rPr>
              <a:t>用户确认</a:t>
            </a:r>
            <a:r>
              <a:rPr lang="en-US" altLang="zh-CN" sz="1500" b="1">
                <a:solidFill>
                  <a:srgbClr val="00A565"/>
                </a:solidFill>
              </a:rPr>
              <a:t> / </a:t>
            </a:r>
            <a:r>
              <a:rPr lang="zh-CN" altLang="en-US" sz="1500" b="1">
                <a:solidFill>
                  <a:srgbClr val="00A565"/>
                </a:solidFill>
              </a:rPr>
              <a:t>降级执行</a:t>
            </a:r>
            <a:r>
              <a:rPr lang="en-US" altLang="zh-CN" sz="1500" b="1">
                <a:solidFill>
                  <a:srgbClr val="00A565"/>
                </a:solidFill>
              </a:rPr>
              <a:t>”</a:t>
            </a:r>
            <a:r>
              <a:rPr lang="zh-CN" altLang="en-US" sz="1500" b="1">
                <a:solidFill>
                  <a:srgbClr val="00A565"/>
                </a:solidFill>
              </a:rPr>
              <a:t>，能否在长链路任务中取得更好的安全</a:t>
            </a:r>
            <a:r>
              <a:rPr lang="en-US" altLang="zh-CN" sz="1500" b="1">
                <a:solidFill>
                  <a:srgbClr val="00A565"/>
                </a:solidFill>
              </a:rPr>
              <a:t>-</a:t>
            </a:r>
            <a:r>
              <a:rPr lang="zh-CN" altLang="en-US" sz="1500" b="1">
                <a:solidFill>
                  <a:srgbClr val="00A565"/>
                </a:solidFill>
              </a:rPr>
              <a:t>可用性折中？</a:t>
            </a:r>
            <a:endParaRPr lang="zh-CN" altLang="en-US" sz="1500" b="1">
              <a:solidFill>
                <a:srgbClr val="00A565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Wingdings</vt:lpstr>
      <vt:lpstr>微软雅黑</vt:lpstr>
      <vt:lpstr>Arial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wang</dc:creator>
  <cp:lastModifiedBy>断南</cp:lastModifiedBy>
  <cp:revision>158</cp:revision>
  <dcterms:created xsi:type="dcterms:W3CDTF">2019-06-19T02:08:00Z</dcterms:created>
  <dcterms:modified xsi:type="dcterms:W3CDTF">2026-06-24T04:59:00Z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59C87CCF22DD40D99159B361912BF4D2_11</vt:lpwstr>
  </property>
</Properties>
</file>