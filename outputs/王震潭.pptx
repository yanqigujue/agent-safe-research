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56" r:id="rId3"/>
    <p:sldId id="259" r:id="rId4"/>
    <p:sldId id="258" r:id="rId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27432"/>
            <a:ext cx="841248" cy="841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25880" y="347472"/>
            <a:ext cx="896112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100" b="1">
                <a:solidFill>
                  <a:srgbClr val="00567A"/>
                </a:solidFill>
                <a:latin typeface="微软雅黑" panose="020B0503020204020204" charset="-122"/>
              </a:rPr>
              <a:t>本周进展：从通用安全问题收敛到证据字段能力</a:t>
            </a:r>
            <a:endParaRPr sz="2100" b="1">
              <a:solidFill>
                <a:srgbClr val="00567A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61872" y="832104"/>
            <a:ext cx="1645920" cy="32004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473952"/>
            <a:ext cx="457200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700" b="0">
                <a:solidFill>
                  <a:srgbClr val="4C6680"/>
                </a:solidFill>
                <a:latin typeface="微软雅黑" panose="020B0503020204020204" charset="-122"/>
              </a:rPr>
              <a:t>周报：WarrantGuard / EAIR-Bench，2026-06-24</a:t>
            </a:r>
            <a:endParaRPr sz="700" b="0">
              <a:solidFill>
                <a:srgbClr val="4C6680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7315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00" b="1">
                <a:solidFill>
                  <a:srgbClr val="4C6680"/>
                </a:solidFill>
                <a:latin typeface="微软雅黑" panose="020B0503020204020204" charset="-122"/>
              </a:rPr>
              <a:t>01 / 03</a:t>
            </a:r>
            <a:endParaRPr sz="800" b="1">
              <a:solidFill>
                <a:srgbClr val="4C6680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1115568"/>
            <a:ext cx="1033272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1">
                <a:solidFill>
                  <a:srgbClr val="0A1423"/>
                </a:solidFill>
                <a:latin typeface="微软雅黑" panose="020B0503020204020204" charset="-122"/>
              </a:rPr>
              <a:t>一句话：本周把对象从“通用验证器”压缩成“字段限定的证据能力”，并锁住真实模型主张边界。</a:t>
            </a:r>
            <a:endParaRPr sz="1500" b="1">
              <a:solidFill>
                <a:srgbClr val="0A1423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154680" y="1755648"/>
            <a:ext cx="5669280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700" b="1">
                <a:solidFill>
                  <a:srgbClr val="0A1423"/>
                </a:solidFill>
                <a:latin typeface="微软雅黑" panose="020B0503020204020204" charset="-122"/>
              </a:rPr>
              <a:t>本周主线：越收越窄，越收越能防审稿攻击</a:t>
            </a:r>
            <a:endParaRPr sz="1700" b="1">
              <a:solidFill>
                <a:srgbClr val="0A1423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77240" y="2788920"/>
            <a:ext cx="1417320" cy="786384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bIns="36576" rtlCol="0" anchor="ctr"/>
          <a:lstStyle/>
          <a:p>
            <a:pPr algn="ctr"/>
            <a:r>
              <a:rPr sz="1250" b="1">
                <a:solidFill>
                  <a:srgbClr val="00567A"/>
                </a:solidFill>
                <a:latin typeface="微软雅黑" panose="020B0503020204020204" charset="-122"/>
              </a:rPr>
              <a:t>证据工厂</a:t>
            </a:r>
            <a:endParaRPr sz="1250" b="1">
              <a:solidFill>
                <a:srgbClr val="00567A"/>
              </a:solidFill>
              <a:latin typeface="微软雅黑" panose="020B0503020204020204" charset="-122"/>
            </a:endParaRPr>
          </a:p>
          <a:p>
            <a:pPr algn="ctr"/>
            <a:r>
              <a:rPr sz="880" b="0">
                <a:solidFill>
                  <a:srgbClr val="0A1423"/>
                </a:solidFill>
                <a:latin typeface="微软雅黑" panose="020B0503020204020204" charset="-122"/>
              </a:rPr>
              <a:t>采样、回放、可报告性</a:t>
            </a:r>
            <a:endParaRPr sz="880" b="0">
              <a:solidFill>
                <a:srgbClr val="0A1423"/>
              </a:solidFill>
              <a:latin typeface="微软雅黑" panose="020B0503020204020204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2194560" y="3182112"/>
            <a:ext cx="429768" cy="0"/>
          </a:xfrm>
          <a:prstGeom prst="line">
            <a:avLst/>
          </a:prstGeom>
          <a:ln w="25400">
            <a:solidFill>
              <a:srgbClr val="4C6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697480" y="2788920"/>
            <a:ext cx="1417320" cy="786384"/>
          </a:xfrm>
          <a:prstGeom prst="roundRect">
            <a:avLst/>
          </a:prstGeom>
          <a:solidFill>
            <a:srgbClr val="D1FAE5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bIns="36576" rtlCol="0" anchor="ctr"/>
          <a:lstStyle/>
          <a:p>
            <a:pPr algn="ctr"/>
            <a:r>
              <a:rPr sz="1250" b="1">
                <a:solidFill>
                  <a:srgbClr val="00567A"/>
                </a:solidFill>
                <a:latin typeface="微软雅黑" panose="020B0503020204020204" charset="-122"/>
              </a:rPr>
              <a:t>守门方法</a:t>
            </a:r>
            <a:endParaRPr sz="1250" b="1">
              <a:solidFill>
                <a:srgbClr val="00567A"/>
              </a:solidFill>
              <a:latin typeface="微软雅黑" panose="020B0503020204020204" charset="-122"/>
            </a:endParaRPr>
          </a:p>
          <a:p>
            <a:pPr algn="ctr"/>
            <a:r>
              <a:rPr sz="880" b="0">
                <a:solidFill>
                  <a:srgbClr val="0A1423"/>
                </a:solidFill>
                <a:latin typeface="微软雅黑" panose="020B0503020204020204" charset="-122"/>
              </a:rPr>
              <a:t>动作携带证据凭证</a:t>
            </a:r>
            <a:endParaRPr sz="880" b="0">
              <a:solidFill>
                <a:srgbClr val="0A1423"/>
              </a:solidFill>
              <a:latin typeface="微软雅黑" panose="020B0503020204020204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4114800" y="3182112"/>
            <a:ext cx="429768" cy="0"/>
          </a:xfrm>
          <a:prstGeom prst="line">
            <a:avLst/>
          </a:prstGeom>
          <a:ln w="25400">
            <a:solidFill>
              <a:srgbClr val="4C6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617720" y="2788920"/>
            <a:ext cx="1417320" cy="786384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bIns="36576" rtlCol="0" anchor="ctr"/>
          <a:lstStyle/>
          <a:p>
            <a:pPr algn="ctr"/>
            <a:r>
              <a:rPr sz="1250" b="1">
                <a:solidFill>
                  <a:srgbClr val="00567A"/>
                </a:solidFill>
                <a:latin typeface="微软雅黑" panose="020B0503020204020204" charset="-122"/>
              </a:rPr>
              <a:t>主张纪律</a:t>
            </a:r>
            <a:endParaRPr sz="1250" b="1">
              <a:solidFill>
                <a:srgbClr val="00567A"/>
              </a:solidFill>
              <a:latin typeface="微软雅黑" panose="020B0503020204020204" charset="-122"/>
            </a:endParaRPr>
          </a:p>
          <a:p>
            <a:pPr algn="ctr"/>
            <a:r>
              <a:rPr sz="880" b="0">
                <a:solidFill>
                  <a:srgbClr val="0A1423"/>
                </a:solidFill>
                <a:latin typeface="微软雅黑" panose="020B0503020204020204" charset="-122"/>
              </a:rPr>
              <a:t>分层证据与禁写边界</a:t>
            </a:r>
            <a:endParaRPr sz="880" b="0">
              <a:solidFill>
                <a:srgbClr val="0A1423"/>
              </a:solidFill>
              <a:latin typeface="微软雅黑" panose="020B0503020204020204" charset="-122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6035040" y="3182112"/>
            <a:ext cx="429768" cy="0"/>
          </a:xfrm>
          <a:prstGeom prst="line">
            <a:avLst/>
          </a:prstGeom>
          <a:ln w="25400">
            <a:solidFill>
              <a:srgbClr val="4C6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537960" y="2788920"/>
            <a:ext cx="1417320" cy="786384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bIns="36576" rtlCol="0" anchor="ctr"/>
          <a:lstStyle/>
          <a:p>
            <a:pPr algn="ctr"/>
            <a:r>
              <a:rPr sz="1250" b="1">
                <a:solidFill>
                  <a:srgbClr val="00567A"/>
                </a:solidFill>
                <a:latin typeface="微软雅黑" panose="020B0503020204020204" charset="-122"/>
              </a:rPr>
              <a:t>方法骨架</a:t>
            </a:r>
            <a:endParaRPr sz="1250" b="1">
              <a:solidFill>
                <a:srgbClr val="00567A"/>
              </a:solidFill>
              <a:latin typeface="微软雅黑" panose="020B0503020204020204" charset="-122"/>
            </a:endParaRPr>
          </a:p>
          <a:p>
            <a:pPr algn="ctr"/>
            <a:r>
              <a:rPr sz="880" b="0">
                <a:solidFill>
                  <a:srgbClr val="0A1423"/>
                </a:solidFill>
                <a:latin typeface="微软雅黑" panose="020B0503020204020204" charset="-122"/>
              </a:rPr>
              <a:t>威胁行、形式化、实验线</a:t>
            </a:r>
            <a:endParaRPr sz="880" b="0">
              <a:solidFill>
                <a:srgbClr val="0A1423"/>
              </a:solidFill>
              <a:latin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7955280" y="3182112"/>
            <a:ext cx="429768" cy="0"/>
          </a:xfrm>
          <a:prstGeom prst="line">
            <a:avLst/>
          </a:prstGeom>
          <a:ln w="25400">
            <a:solidFill>
              <a:srgbClr val="4C6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458200" y="2788920"/>
            <a:ext cx="1417320" cy="786384"/>
          </a:xfrm>
          <a:prstGeom prst="roundRect">
            <a:avLst/>
          </a:prstGeom>
          <a:solidFill>
            <a:srgbClr val="FFE4E6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bIns="36576" rtlCol="0" anchor="ctr"/>
          <a:lstStyle/>
          <a:p>
            <a:pPr algn="ctr"/>
            <a:r>
              <a:rPr sz="1250" b="1">
                <a:solidFill>
                  <a:srgbClr val="00567A"/>
                </a:solidFill>
                <a:latin typeface="微软雅黑" panose="020B0503020204020204" charset="-122"/>
              </a:rPr>
              <a:t>最终对象</a:t>
            </a:r>
            <a:endParaRPr sz="1250" b="1">
              <a:solidFill>
                <a:srgbClr val="00567A"/>
              </a:solidFill>
              <a:latin typeface="微软雅黑" panose="020B0503020204020204" charset="-122"/>
            </a:endParaRPr>
          </a:p>
          <a:p>
            <a:pPr algn="ctr"/>
            <a:r>
              <a:rPr sz="880" b="0">
                <a:solidFill>
                  <a:srgbClr val="0A1423"/>
                </a:solidFill>
                <a:latin typeface="微软雅黑" panose="020B0503020204020204" charset="-122"/>
              </a:rPr>
              <a:t>字段限定的证据能力</a:t>
            </a:r>
            <a:endParaRPr sz="880" b="0">
              <a:solidFill>
                <a:srgbClr val="0A1423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34440" y="4251960"/>
            <a:ext cx="9784080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250" b="1">
                <a:solidFill>
                  <a:srgbClr val="00567A"/>
                </a:solidFill>
                <a:latin typeface="微软雅黑" panose="020B0503020204020204" charset="-122"/>
              </a:rPr>
              <a:t>新增落点：同一证据跨字段洗白测试；当前只能写设计、夹具、确定性试验证据，不能写真实模型效果。</a:t>
            </a:r>
            <a:endParaRPr sz="1250" b="1">
              <a:solidFill>
                <a:srgbClr val="00567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" name="文本框 25"/>
          <p:cNvSpPr>
            <a:spLocks noGrp="1"/>
          </p:cNvSpPr>
          <p:nvPr/>
        </p:nvSpPr>
        <p:spPr>
          <a:xfrm>
            <a:off x="1381053" y="324012"/>
            <a:ext cx="9143524" cy="55242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196" tIns="38098" rIns="76196" bIns="38098" anchor="ctr">
            <a:noAutofit/>
          </a:bodyPr>
          <a:lstStyle/>
          <a:p>
            <a:pPr algn="l">
              <a:buNone/>
            </a:pPr>
            <a:r>
              <a:rPr lang="en-US" sz="2200" b="1">
                <a:solidFill>
                  <a:srgbClr val="005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AttriGuard </a:t>
            </a:r>
            <a:r>
              <a:rPr lang="zh-CN" altLang="en-US" sz="2200" b="1">
                <a:solidFill>
                  <a:srgbClr val="005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一页总结：动作归因防御</a:t>
            </a:r>
            <a:r>
              <a:rPr lang="en-US" altLang="zh-CN" sz="2200" b="1">
                <a:solidFill>
                  <a:srgbClr val="005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IPI</a:t>
            </a:r>
            <a:endParaRPr lang="en-US" altLang="zh-CN" sz="2200" b="1">
              <a:solidFill>
                <a:srgbClr val="0056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9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07" y="-25220"/>
            <a:ext cx="1051505" cy="1051505"/>
          </a:xfrm>
          <a:prstGeom prst="rect">
            <a:avLst/>
          </a:prstGeom>
        </p:spPr>
      </p:pic>
      <p:sp>
        <p:nvSpPr>
          <p:cNvPr id="28" name="矩形 27"/>
          <p:cNvSpPr>
            <a:spLocks noGrp="1"/>
          </p:cNvSpPr>
          <p:nvPr/>
        </p:nvSpPr>
        <p:spPr>
          <a:xfrm>
            <a:off x="1390578" y="895482"/>
            <a:ext cx="1600117" cy="38098"/>
          </a:xfrm>
          <a:prstGeom prst="rect">
            <a:avLst/>
          </a:prstGeom>
          <a:solidFill>
            <a:srgbClr val="EE822F"/>
          </a:solidFill>
          <a:ln w="0">
            <a:solidFill>
              <a:srgbClr val="EE822F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42911" y="6438743"/>
            <a:ext cx="5905192" cy="2285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196" tIns="38098" rIns="76196" bIns="38098" anchor="t"/>
          <a:lstStyle/>
          <a:p>
            <a:pPr algn="l">
              <a:buNone/>
              <a:defRPr sz="825" b="0">
                <a:solidFill>
                  <a:srgbClr val="7A879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b="0">
                <a:solidFill>
                  <a:srgbClr val="7A879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He et al., AttriGuard, arXiv:2603.10749v2 (2026)</a:t>
            </a:r>
            <a:endParaRPr b="0">
              <a:solidFill>
                <a:srgbClr val="7A8794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0667444" y="6438743"/>
            <a:ext cx="857205" cy="2285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196" tIns="38098" rIns="76196" bIns="38098" anchor="t"/>
          <a:lstStyle/>
          <a:p>
            <a:pPr algn="r">
              <a:buNone/>
              <a:defRPr sz="900" b="1">
                <a:solidFill>
                  <a:srgbClr val="7A879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800" b="1">
                <a:solidFill>
                  <a:srgbClr val="80664C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01 / 01</a:t>
            </a:r>
            <a:endParaRPr lang="en-US" sz="800" b="1">
              <a:solidFill>
                <a:srgbClr val="80664C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76254" y="1219315"/>
            <a:ext cx="9334014" cy="60956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196" tIns="38098" rIns="76196" bIns="38098" anchor="t"/>
          <a:lstStyle/>
          <a:p>
            <a:pPr algn="l">
              <a:buNone/>
              <a:defRPr sz="1725" b="1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500" b="1">
                <a:solidFill>
                  <a:srgbClr val="000000"/>
                </a:solidFill>
              </a:rPr>
              <a:t>一句话：不判断</a:t>
            </a:r>
            <a:r>
              <a:rPr lang="en-US" altLang="zh-CN" sz="1500" b="1">
                <a:solidFill>
                  <a:srgbClr val="000000"/>
                </a:solidFill>
              </a:rPr>
              <a:t>“</a:t>
            </a:r>
            <a:r>
              <a:rPr lang="zh-CN" altLang="en-US" sz="1500" b="1">
                <a:solidFill>
                  <a:srgbClr val="000000"/>
                </a:solidFill>
              </a:rPr>
              <a:t>外部文本像不像攻击</a:t>
            </a:r>
            <a:r>
              <a:rPr lang="en-US" altLang="zh-CN" sz="1500" b="1">
                <a:solidFill>
                  <a:srgbClr val="000000"/>
                </a:solidFill>
              </a:rPr>
              <a:t>”</a:t>
            </a:r>
            <a:r>
              <a:rPr lang="zh-CN" altLang="en-US" sz="1500" b="1">
                <a:solidFill>
                  <a:srgbClr val="000000"/>
                </a:solidFill>
              </a:rPr>
              <a:t>，而是在执行前做</a:t>
            </a:r>
            <a:r>
              <a:rPr lang="en-US" altLang="zh-CN" sz="1500" b="1">
                <a:solidFill>
                  <a:srgbClr val="000000"/>
                </a:solidFill>
              </a:rPr>
              <a:t> original / shadow </a:t>
            </a:r>
            <a:r>
              <a:rPr lang="zh-CN" altLang="en-US" sz="1500" b="1">
                <a:solidFill>
                  <a:srgbClr val="000000"/>
                </a:solidFill>
              </a:rPr>
              <a:t>反事实，验证工具调用是否仍由用户任务支持。</a:t>
            </a:r>
            <a:endParaRPr lang="zh-CN" altLang="en-US" sz="1500" b="1">
              <a:solidFill>
                <a:srgbClr val="000000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04828" y="2000324"/>
            <a:ext cx="47623" cy="1381053"/>
          </a:xfrm>
          <a:prstGeom prst="rect">
            <a:avLst/>
          </a:prstGeom>
          <a:solidFill>
            <a:srgbClr val="EE822F"/>
          </a:solidFill>
          <a:ln w="0">
            <a:solidFill>
              <a:srgbClr val="EE822F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952450" y="2000324"/>
            <a:ext cx="3095464" cy="1381053"/>
          </a:xfrm>
          <a:prstGeom prst="rect">
            <a:avLst/>
          </a:prstGeom>
          <a:solidFill>
            <a:srgbClr val="FFF3E8"/>
          </a:solidFill>
          <a:ln w="9525">
            <a:solidFill>
              <a:srgbClr val="D7E1EA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1076269" y="2133667"/>
            <a:ext cx="2838302" cy="26668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196" tIns="38098" rIns="76196" bIns="38098" anchor="t"/>
          <a:lstStyle/>
          <a:p>
            <a:pPr algn="l">
              <a:buNone/>
              <a:defRPr sz="135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400" b="1">
                <a:solidFill>
                  <a:srgbClr val="F47C20"/>
                </a:solidFill>
              </a:rPr>
              <a:t>问题：</a:t>
            </a:r>
            <a:r>
              <a:rPr lang="en-US" altLang="zh-CN" sz="1400" b="1">
                <a:solidFill>
                  <a:srgbClr val="F47C20"/>
                </a:solidFill>
              </a:rPr>
              <a:t>IPI </a:t>
            </a:r>
            <a:r>
              <a:rPr lang="zh-CN" altLang="en-US" sz="1400" b="1">
                <a:solidFill>
                  <a:srgbClr val="F47C20"/>
                </a:solidFill>
              </a:rPr>
              <a:t>把数据伪装成指令</a:t>
            </a:r>
            <a:endParaRPr lang="zh-CN" altLang="en-US" sz="1400" b="1">
              <a:solidFill>
                <a:srgbClr val="F47C20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1076269" y="2457501"/>
            <a:ext cx="2838302" cy="88895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196" tIns="38098" rIns="76196" bIns="38098" anchor="t"/>
          <a:lstStyle/>
          <a:p>
            <a:pPr algn="l">
              <a:buNone/>
              <a:defRPr sz="127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200" b="0">
                <a:solidFill>
                  <a:srgbClr val="000000"/>
                </a:solidFill>
              </a:rPr>
              <a:t>恶意指令藏在网页、邮件、</a:t>
            </a:r>
            <a:r>
              <a:rPr lang="en-US" altLang="zh-CN" sz="1200" b="0">
                <a:solidFill>
                  <a:srgbClr val="000000"/>
                </a:solidFill>
              </a:rPr>
              <a:t>API </a:t>
            </a:r>
            <a:r>
              <a:rPr lang="zh-CN" altLang="en-US" sz="1200" b="0">
                <a:solidFill>
                  <a:srgbClr val="000000"/>
                </a:solidFill>
              </a:rPr>
              <a:t>结果中；输入语义检测容易被新</a:t>
            </a:r>
            <a:r>
              <a:rPr lang="en-US" altLang="zh-CN" sz="1200" b="0">
                <a:solidFill>
                  <a:srgbClr val="000000"/>
                </a:solidFill>
              </a:rPr>
              <a:t> payload </a:t>
            </a:r>
            <a:r>
              <a:rPr lang="zh-CN" altLang="en-US" sz="1200" b="0">
                <a:solidFill>
                  <a:srgbClr val="000000"/>
                </a:solidFill>
              </a:rPr>
              <a:t>绕过，关键风险是工具调用被不可信观察驱动。</a:t>
            </a:r>
            <a:endParaRPr lang="zh-CN" altLang="en-US" sz="1200" b="0">
              <a:solidFill>
                <a:srgbClr val="000000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4524139" y="2000324"/>
            <a:ext cx="47623" cy="1381053"/>
          </a:xfrm>
          <a:prstGeom prst="rect">
            <a:avLst/>
          </a:prstGeom>
          <a:solidFill>
            <a:srgbClr val="005F85"/>
          </a:solidFill>
          <a:ln w="0">
            <a:solidFill>
              <a:srgbClr val="005F85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4571762" y="2000324"/>
            <a:ext cx="3095464" cy="1381053"/>
          </a:xfrm>
          <a:prstGeom prst="rect">
            <a:avLst/>
          </a:prstGeom>
          <a:solidFill>
            <a:srgbClr val="F4F8FB"/>
          </a:solidFill>
          <a:ln w="9525">
            <a:solidFill>
              <a:srgbClr val="D7E1EA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4695580" y="2133667"/>
            <a:ext cx="2838302" cy="26668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196" tIns="38098" rIns="76196" bIns="38098" anchor="t"/>
          <a:lstStyle/>
          <a:p>
            <a:pPr algn="l">
              <a:buNone/>
              <a:defRPr sz="1350" b="1">
                <a:solidFill>
                  <a:srgbClr val="005F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400" b="1">
                <a:solidFill>
                  <a:srgbClr val="00567A"/>
                </a:solidFill>
              </a:rPr>
              <a:t>方法：</a:t>
            </a:r>
            <a:r>
              <a:rPr lang="en-US" altLang="zh-CN" sz="1400" b="1">
                <a:solidFill>
                  <a:srgbClr val="00567A"/>
                </a:solidFill>
              </a:rPr>
              <a:t>Original vs Shadow</a:t>
            </a:r>
            <a:endParaRPr lang="en-US" altLang="zh-CN" sz="1400" b="1">
              <a:solidFill>
                <a:srgbClr val="00567A"/>
              </a:solidFill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4695580" y="2457501"/>
            <a:ext cx="2838302" cy="88895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196" tIns="38098" rIns="76196" bIns="38098" anchor="t"/>
          <a:lstStyle/>
          <a:p>
            <a:pPr algn="l">
              <a:buNone/>
              <a:defRPr sz="127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200" b="0">
                <a:solidFill>
                  <a:srgbClr val="000000"/>
                </a:solidFill>
              </a:rPr>
              <a:t>保留原执行历史，只削弱新增观察的控制力；</a:t>
            </a:r>
            <a:r>
              <a:rPr lang="en-US" altLang="zh-CN" sz="1200" b="0">
                <a:solidFill>
                  <a:srgbClr val="000000"/>
                </a:solidFill>
              </a:rPr>
              <a:t>teacher-forced replay </a:t>
            </a:r>
            <a:r>
              <a:rPr lang="zh-CN" altLang="en-US" sz="1200" b="0">
                <a:solidFill>
                  <a:srgbClr val="000000"/>
                </a:solidFill>
              </a:rPr>
              <a:t>后做</a:t>
            </a:r>
            <a:r>
              <a:rPr lang="en-US" altLang="zh-CN" sz="1200" b="0">
                <a:solidFill>
                  <a:srgbClr val="000000"/>
                </a:solidFill>
              </a:rPr>
              <a:t> fuzzy survival test</a:t>
            </a:r>
            <a:r>
              <a:rPr lang="zh-CN" altLang="en-US" sz="1200" b="0">
                <a:solidFill>
                  <a:srgbClr val="000000"/>
                </a:solidFill>
              </a:rPr>
              <a:t>，存活则执行，失败则阻断。</a:t>
            </a:r>
            <a:endParaRPr lang="zh-CN" altLang="en-US" sz="1200" b="0">
              <a:solidFill>
                <a:srgbClr val="000000"/>
              </a:solidFill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8143451" y="2000324"/>
            <a:ext cx="47623" cy="1381053"/>
          </a:xfrm>
          <a:prstGeom prst="rect">
            <a:avLst/>
          </a:prstGeom>
          <a:solidFill>
            <a:srgbClr val="D94D4D"/>
          </a:solidFill>
          <a:ln w="0">
            <a:solidFill>
              <a:srgbClr val="D94D4D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8191073" y="2000324"/>
            <a:ext cx="3095464" cy="1381053"/>
          </a:xfrm>
          <a:prstGeom prst="rect">
            <a:avLst/>
          </a:prstGeom>
          <a:solidFill>
            <a:srgbClr val="FFF0F0"/>
          </a:solidFill>
          <a:ln w="9525">
            <a:solidFill>
              <a:srgbClr val="D7E1EA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8314892" y="2133667"/>
            <a:ext cx="2838302" cy="26668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196" tIns="38098" rIns="76196" bIns="38098" anchor="t"/>
          <a:lstStyle/>
          <a:p>
            <a:pPr algn="l">
              <a:buNone/>
              <a:defRPr sz="1350" b="1">
                <a:solidFill>
                  <a:srgbClr val="D94D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400" b="1">
                <a:solidFill>
                  <a:srgbClr val="D94A4A"/>
                </a:solidFill>
              </a:rPr>
              <a:t>结果：</a:t>
            </a:r>
            <a:r>
              <a:rPr lang="en-US" altLang="zh-CN" sz="1400" b="1">
                <a:solidFill>
                  <a:srgbClr val="D94A4A"/>
                </a:solidFill>
              </a:rPr>
              <a:t>ASR </a:t>
            </a:r>
            <a:r>
              <a:rPr lang="zh-CN" altLang="en-US" sz="1400" b="1">
                <a:solidFill>
                  <a:srgbClr val="D94A4A"/>
                </a:solidFill>
              </a:rPr>
              <a:t>归零，</a:t>
            </a:r>
            <a:r>
              <a:rPr lang="en-US" altLang="zh-CN" sz="1400" b="1">
                <a:solidFill>
                  <a:srgbClr val="D94A4A"/>
                </a:solidFill>
              </a:rPr>
              <a:t>BU </a:t>
            </a:r>
            <a:r>
              <a:rPr lang="zh-CN" altLang="en-US" sz="1400" b="1">
                <a:solidFill>
                  <a:srgbClr val="D94A4A"/>
                </a:solidFill>
              </a:rPr>
              <a:t>基本保留</a:t>
            </a:r>
            <a:endParaRPr lang="zh-CN" altLang="en-US" sz="1400" b="1">
              <a:solidFill>
                <a:srgbClr val="D94A4A"/>
              </a:solidFill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8314892" y="2457501"/>
            <a:ext cx="2838302" cy="88895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196" tIns="38098" rIns="76196" bIns="38098" anchor="t"/>
          <a:lstStyle/>
          <a:p>
            <a:pPr algn="l">
              <a:buNone/>
              <a:defRPr sz="127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200" b="0">
                <a:solidFill>
                  <a:srgbClr val="000000"/>
                </a:solidFill>
              </a:rPr>
              <a:t>AgentDojo </a:t>
            </a:r>
            <a:r>
              <a:rPr lang="zh-CN" altLang="en-US" sz="1200" b="0">
                <a:solidFill>
                  <a:srgbClr val="000000"/>
                </a:solidFill>
              </a:rPr>
              <a:t>四类静态攻击主要实验</a:t>
            </a:r>
            <a:r>
              <a:rPr lang="en-US" altLang="zh-CN" sz="1200" b="0">
                <a:solidFill>
                  <a:srgbClr val="000000"/>
                </a:solidFill>
              </a:rPr>
              <a:t> ASR=0%</a:t>
            </a:r>
            <a:r>
              <a:rPr lang="zh-CN" altLang="en-US" sz="1200" b="0">
                <a:solidFill>
                  <a:srgbClr val="000000"/>
                </a:solidFill>
              </a:rPr>
              <a:t>；</a:t>
            </a:r>
            <a:r>
              <a:rPr lang="en-US" altLang="zh-CN" sz="1200" b="0">
                <a:solidFill>
                  <a:srgbClr val="000000"/>
                </a:solidFill>
              </a:rPr>
              <a:t>BU </a:t>
            </a:r>
            <a:r>
              <a:rPr lang="zh-CN" altLang="en-US" sz="1200" b="0">
                <a:solidFill>
                  <a:srgbClr val="000000"/>
                </a:solidFill>
              </a:rPr>
              <a:t>与无防御接近。自适应攻击仍为</a:t>
            </a:r>
            <a:r>
              <a:rPr lang="en-US" altLang="zh-CN" sz="1200" b="0">
                <a:solidFill>
                  <a:srgbClr val="000000"/>
                </a:solidFill>
              </a:rPr>
              <a:t> Gemini 6.56%</a:t>
            </a:r>
            <a:r>
              <a:rPr lang="zh-CN" altLang="en-US" sz="1200" b="0">
                <a:solidFill>
                  <a:srgbClr val="000000"/>
                </a:solidFill>
              </a:rPr>
              <a:t>、</a:t>
            </a:r>
            <a:r>
              <a:rPr lang="en-US" altLang="zh-CN" sz="1200" b="0">
                <a:solidFill>
                  <a:srgbClr val="000000"/>
                </a:solidFill>
              </a:rPr>
              <a:t>Llama 9.84%</a:t>
            </a:r>
            <a:r>
              <a:rPr lang="zh-CN" altLang="en-US" sz="1200" b="0">
                <a:solidFill>
                  <a:srgbClr val="000000"/>
                </a:solidFill>
              </a:rPr>
              <a:t>。</a:t>
            </a:r>
            <a:endParaRPr lang="zh-CN" altLang="en-US" sz="1200" b="0">
              <a:solidFill>
                <a:srgbClr val="000000"/>
              </a:solidFill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1047695" y="4095715"/>
            <a:ext cx="1428676" cy="476225"/>
          </a:xfrm>
          <a:prstGeom prst="rect">
            <a:avLst/>
          </a:prstGeom>
          <a:solidFill>
            <a:srgbClr val="FFFFFF"/>
          </a:solidFill>
          <a:ln w="11430">
            <a:solidFill>
              <a:srgbClr val="005F85"/>
            </a:solidFill>
            <a:prstDash val="solid"/>
          </a:ln>
        </p:spPr>
        <p:txBody>
          <a:bodyPr wrap="square" lIns="76196" tIns="38098" rIns="76196" bIns="38098" anchor="ctr"/>
          <a:lstStyle/>
          <a:p>
            <a:pPr algn="ctr">
              <a:buNone/>
              <a:defRPr sz="1800" b="1">
                <a:solidFill>
                  <a:srgbClr val="005F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700" b="1">
                <a:solidFill>
                  <a:srgbClr val="00567A"/>
                </a:solidFill>
                <a:cs typeface="微软雅黑" panose="020B0503020204020204" charset="-122"/>
              </a:rPr>
              <a:t>我的评价</a:t>
            </a:r>
            <a:endParaRPr lang="zh-CN" sz="1700" b="1">
              <a:solidFill>
                <a:srgbClr val="00567A"/>
              </a:solidFill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2714484" y="4048093"/>
            <a:ext cx="8095828" cy="78735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196" tIns="38098" rIns="76196" bIns="38098" anchor="t"/>
          <a:lstStyle/>
          <a:p>
            <a:pPr algn="l">
              <a:buNone/>
              <a:defRPr sz="157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400" b="0">
                <a:solidFill>
                  <a:srgbClr val="000000"/>
                </a:solidFill>
              </a:rPr>
              <a:t>贡献是把</a:t>
            </a:r>
            <a:r>
              <a:rPr lang="en-US" altLang="zh-CN" sz="1400" b="0">
                <a:solidFill>
                  <a:srgbClr val="000000"/>
                </a:solidFill>
              </a:rPr>
              <a:t> IPI </a:t>
            </a:r>
            <a:r>
              <a:rPr lang="zh-CN" altLang="en-US" sz="1400" b="0">
                <a:solidFill>
                  <a:srgbClr val="000000"/>
                </a:solidFill>
              </a:rPr>
              <a:t>防御从</a:t>
            </a:r>
            <a:r>
              <a:rPr lang="en-US" altLang="zh-CN" sz="1400" b="0">
                <a:solidFill>
                  <a:srgbClr val="000000"/>
                </a:solidFill>
              </a:rPr>
              <a:t>“</a:t>
            </a:r>
            <a:r>
              <a:rPr lang="zh-CN" altLang="en-US" sz="1400" b="0">
                <a:solidFill>
                  <a:srgbClr val="000000"/>
                </a:solidFill>
              </a:rPr>
              <a:t>文本分类</a:t>
            </a:r>
            <a:r>
              <a:rPr lang="en-US" altLang="zh-CN" sz="1400" b="0">
                <a:solidFill>
                  <a:srgbClr val="000000"/>
                </a:solidFill>
              </a:rPr>
              <a:t>”</a:t>
            </a:r>
            <a:r>
              <a:rPr lang="zh-CN" altLang="en-US" sz="1400" b="0">
                <a:solidFill>
                  <a:srgbClr val="000000"/>
                </a:solidFill>
              </a:rPr>
              <a:t>推进到</a:t>
            </a:r>
            <a:r>
              <a:rPr lang="en-US" altLang="zh-CN" sz="1400" b="0">
                <a:solidFill>
                  <a:srgbClr val="000000"/>
                </a:solidFill>
              </a:rPr>
              <a:t> action-level causal attribution</a:t>
            </a:r>
            <a:r>
              <a:rPr lang="zh-CN" altLang="en-US" sz="1400" b="0">
                <a:solidFill>
                  <a:srgbClr val="000000"/>
                </a:solidFill>
              </a:rPr>
              <a:t>，对未知</a:t>
            </a:r>
            <a:r>
              <a:rPr lang="en-US" altLang="zh-CN" sz="1400" b="0">
                <a:solidFill>
                  <a:srgbClr val="000000"/>
                </a:solidFill>
              </a:rPr>
              <a:t> payload </a:t>
            </a:r>
            <a:r>
              <a:rPr lang="zh-CN" altLang="en-US" sz="1400" b="0">
                <a:solidFill>
                  <a:srgbClr val="000000"/>
                </a:solidFill>
              </a:rPr>
              <a:t>更有泛化希望；代价是每次调用需影子分支，长链路误报与延迟是落地瓶颈。</a:t>
            </a:r>
            <a:endParaRPr lang="zh-CN" altLang="en-US" sz="1400" b="0">
              <a:solidFill>
                <a:srgbClr val="000000"/>
              </a:solidFill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1285808" y="5381523"/>
            <a:ext cx="9524504" cy="590519"/>
          </a:xfrm>
          <a:prstGeom prst="rect">
            <a:avLst/>
          </a:prstGeom>
          <a:solidFill>
            <a:srgbClr val="EAF8F1"/>
          </a:solidFill>
          <a:ln w="11430">
            <a:solidFill>
              <a:srgbClr val="20A66A"/>
            </a:solidFill>
            <a:prstDash val="solid"/>
          </a:ln>
        </p:spPr>
        <p:txBody>
          <a:bodyPr wrap="square" lIns="76196" tIns="38098" rIns="76196" bIns="38098" anchor="ctr"/>
          <a:lstStyle/>
          <a:p>
            <a:pPr algn="ctr">
              <a:buNone/>
              <a:defRPr sz="1650" b="1">
                <a:solidFill>
                  <a:srgbClr val="20A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500" b="1">
                <a:solidFill>
                  <a:srgbClr val="00A565"/>
                </a:solidFill>
              </a:rPr>
              <a:t>讨论：把</a:t>
            </a:r>
            <a:r>
              <a:rPr lang="en-US" altLang="zh-CN" sz="1500" b="1">
                <a:solidFill>
                  <a:srgbClr val="00A565"/>
                </a:solidFill>
              </a:rPr>
              <a:t>“</a:t>
            </a:r>
            <a:r>
              <a:rPr lang="zh-CN" altLang="en-US" sz="1500" b="1">
                <a:solidFill>
                  <a:srgbClr val="00A565"/>
                </a:solidFill>
              </a:rPr>
              <a:t>阻断</a:t>
            </a:r>
            <a:r>
              <a:rPr lang="en-US" altLang="zh-CN" sz="1500" b="1">
                <a:solidFill>
                  <a:srgbClr val="00A565"/>
                </a:solidFill>
              </a:rPr>
              <a:t>”</a:t>
            </a:r>
            <a:r>
              <a:rPr lang="zh-CN" altLang="en-US" sz="1500" b="1">
                <a:solidFill>
                  <a:srgbClr val="00A565"/>
                </a:solidFill>
              </a:rPr>
              <a:t>改为</a:t>
            </a:r>
            <a:r>
              <a:rPr lang="en-US" altLang="zh-CN" sz="1500" b="1">
                <a:solidFill>
                  <a:srgbClr val="00A565"/>
                </a:solidFill>
              </a:rPr>
              <a:t>“</a:t>
            </a:r>
            <a:r>
              <a:rPr lang="zh-CN" altLang="en-US" sz="1500" b="1">
                <a:solidFill>
                  <a:srgbClr val="00A565"/>
                </a:solidFill>
              </a:rPr>
              <a:t>用户确认</a:t>
            </a:r>
            <a:r>
              <a:rPr lang="en-US" altLang="zh-CN" sz="1500" b="1">
                <a:solidFill>
                  <a:srgbClr val="00A565"/>
                </a:solidFill>
              </a:rPr>
              <a:t> / </a:t>
            </a:r>
            <a:r>
              <a:rPr lang="zh-CN" altLang="en-US" sz="1500" b="1">
                <a:solidFill>
                  <a:srgbClr val="00A565"/>
                </a:solidFill>
              </a:rPr>
              <a:t>降级执行</a:t>
            </a:r>
            <a:r>
              <a:rPr lang="en-US" altLang="zh-CN" sz="1500" b="1">
                <a:solidFill>
                  <a:srgbClr val="00A565"/>
                </a:solidFill>
              </a:rPr>
              <a:t>”</a:t>
            </a:r>
            <a:r>
              <a:rPr lang="zh-CN" altLang="en-US" sz="1500" b="1">
                <a:solidFill>
                  <a:srgbClr val="00A565"/>
                </a:solidFill>
              </a:rPr>
              <a:t>，能否在长链路任务中取得更好的安全</a:t>
            </a:r>
            <a:r>
              <a:rPr lang="en-US" altLang="zh-CN" sz="1500" b="1">
                <a:solidFill>
                  <a:srgbClr val="00A565"/>
                </a:solidFill>
              </a:rPr>
              <a:t>-</a:t>
            </a:r>
            <a:r>
              <a:rPr lang="zh-CN" altLang="en-US" sz="1500" b="1">
                <a:solidFill>
                  <a:srgbClr val="00A565"/>
                </a:solidFill>
              </a:rPr>
              <a:t>可用性折中？</a:t>
            </a:r>
            <a:endParaRPr lang="zh-CN" altLang="en-US" sz="1500" b="1">
              <a:solidFill>
                <a:srgbClr val="00A565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27432"/>
            <a:ext cx="841248" cy="841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25880" y="347472"/>
            <a:ext cx="896112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100" b="1">
                <a:solidFill>
                  <a:srgbClr val="00567A"/>
                </a:solidFill>
                <a:latin typeface="微软雅黑" panose="020B0503020204020204" charset="-122"/>
              </a:rPr>
              <a:t>相关工作压力与下一步：动作归因与字段证据能力</a:t>
            </a:r>
            <a:endParaRPr sz="2100" b="1">
              <a:solidFill>
                <a:srgbClr val="00567A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61872" y="832104"/>
            <a:ext cx="1645920" cy="32004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473952"/>
            <a:ext cx="457200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700" b="0">
                <a:solidFill>
                  <a:srgbClr val="4C6680"/>
                </a:solidFill>
                <a:latin typeface="微软雅黑" panose="020B0503020204020204" charset="-122"/>
              </a:rPr>
              <a:t>周报：WarrantGuard / EAIR-Bench，2026-06-24</a:t>
            </a:r>
            <a:endParaRPr sz="700" b="0">
              <a:solidFill>
                <a:srgbClr val="4C6680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7315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00" b="1">
                <a:solidFill>
                  <a:srgbClr val="4C6680"/>
                </a:solidFill>
                <a:latin typeface="微软雅黑" panose="020B0503020204020204" charset="-122"/>
              </a:rPr>
              <a:t>03 / 03</a:t>
            </a:r>
            <a:endParaRPr sz="800" b="1">
              <a:solidFill>
                <a:srgbClr val="4C6680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1078992"/>
            <a:ext cx="1024128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50" b="1">
                <a:solidFill>
                  <a:srgbClr val="0A1423"/>
                </a:solidFill>
                <a:latin typeface="微软雅黑" panose="020B0503020204020204" charset="-122"/>
              </a:rPr>
              <a:t>AttriGuard 已经回答“这个工具调用是谁推动的？”；WarrantGuard 要回答更窄的问题：“这条证据是否有资格改变这个字段？”</a:t>
            </a:r>
            <a:endParaRPr sz="1450" b="1">
              <a:solidFill>
                <a:srgbClr val="0A1423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2743200" cy="123444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bIns="36576" rtlCol="0" anchor="ctr"/>
          <a:lstStyle/>
          <a:p>
            <a:pPr algn="ctr"/>
            <a:r>
              <a:rPr sz="1300" b="1">
                <a:solidFill>
                  <a:srgbClr val="F47C20"/>
                </a:solidFill>
                <a:latin typeface="微软雅黑" panose="020B0503020204020204" charset="-122"/>
              </a:rPr>
              <a:t>动作归因</a:t>
            </a:r>
            <a:endParaRPr sz="1300" b="1">
              <a:solidFill>
                <a:srgbClr val="F47C20"/>
              </a:solidFill>
              <a:latin typeface="微软雅黑" panose="020B0503020204020204" charset="-122"/>
            </a:endParaRPr>
          </a:p>
          <a:p>
            <a:pPr algn="ctr"/>
            <a:r>
              <a:rPr sz="1050" b="0">
                <a:solidFill>
                  <a:srgbClr val="0A1423"/>
                </a:solidFill>
                <a:latin typeface="微软雅黑" panose="020B0503020204020204" charset="-122"/>
              </a:rPr>
              <a:t>用原始分支 / 影子分支反事实测试工具调用是否由用户任务支持；静态攻击中攻击成功率归零，但要付出影子分支开销。</a:t>
            </a:r>
            <a:endParaRPr sz="1050" b="0">
              <a:solidFill>
                <a:srgbClr val="0A1423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703320" y="1828800"/>
            <a:ext cx="2743200" cy="123444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bIns="36576" rtlCol="0" anchor="ctr"/>
          <a:lstStyle/>
          <a:p>
            <a:pPr algn="ctr"/>
            <a:r>
              <a:rPr sz="1300" b="1">
                <a:solidFill>
                  <a:srgbClr val="00567A"/>
                </a:solidFill>
                <a:latin typeface="微软雅黑" panose="020B0503020204020204" charset="-122"/>
              </a:rPr>
              <a:t>字段证据能力</a:t>
            </a:r>
            <a:endParaRPr sz="1300" b="1">
              <a:solidFill>
                <a:srgbClr val="00567A"/>
              </a:solidFill>
              <a:latin typeface="微软雅黑" panose="020B0503020204020204" charset="-122"/>
            </a:endParaRPr>
          </a:p>
          <a:p>
            <a:pPr algn="ctr"/>
            <a:r>
              <a:rPr sz="1050" b="0">
                <a:solidFill>
                  <a:srgbClr val="0A1423"/>
                </a:solidFill>
                <a:latin typeface="微软雅黑" panose="020B0503020204020204" charset="-122"/>
              </a:rPr>
              <a:t>把检索证据当作有限能力；动作凭证中每个受保护字段都必须通过字段级证据检查。</a:t>
            </a:r>
            <a:endParaRPr sz="1050" b="0">
              <a:solidFill>
                <a:srgbClr val="0A1423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720840" y="1828800"/>
            <a:ext cx="2743200" cy="1234440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bIns="36576" rtlCol="0" anchor="ctr"/>
          <a:lstStyle/>
          <a:p>
            <a:pPr algn="ctr"/>
            <a:r>
              <a:rPr sz="1300" b="1">
                <a:solidFill>
                  <a:srgbClr val="D94A4A"/>
                </a:solidFill>
                <a:latin typeface="微软雅黑" panose="020B0503020204020204" charset="-122"/>
              </a:rPr>
              <a:t>下一步：真实模型配对</a:t>
            </a:r>
            <a:endParaRPr sz="1300" b="1">
              <a:solidFill>
                <a:srgbClr val="D94A4A"/>
              </a:solidFill>
              <a:latin typeface="微软雅黑" panose="020B0503020204020204" charset="-122"/>
            </a:endParaRPr>
          </a:p>
          <a:p>
            <a:pPr algn="ctr"/>
            <a:r>
              <a:rPr sz="1050" b="0">
                <a:solidFill>
                  <a:srgbClr val="0A1423"/>
                </a:solidFill>
                <a:latin typeface="微软雅黑" panose="020B0503020204020204" charset="-122"/>
              </a:rPr>
              <a:t>跑 8 个条件 × 3 种提示；再追加第 9 个“同证据洗白”条件；所有结果必须通过人工复核与封存。</a:t>
            </a:r>
            <a:endParaRPr sz="1050" b="0">
              <a:solidFill>
                <a:srgbClr val="0A1423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914400" y="3657600"/>
            <a:ext cx="1143000" cy="411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bIns="36576" rtlCol="0" anchor="ctr"/>
          <a:lstStyle/>
          <a:p>
            <a:pPr algn="ctr"/>
            <a:r>
              <a:rPr sz="1500" b="1">
                <a:solidFill>
                  <a:srgbClr val="00567A"/>
                </a:solidFill>
                <a:latin typeface="微软雅黑" panose="020B0503020204020204" charset="-122"/>
              </a:rPr>
              <a:t>定位句</a:t>
            </a:r>
            <a:endParaRPr sz="1500" b="1">
              <a:solidFill>
                <a:srgbClr val="00567A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31720" y="3621024"/>
            <a:ext cx="7498079" cy="5669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 b="0">
                <a:solidFill>
                  <a:srgbClr val="0A1423"/>
                </a:solidFill>
                <a:latin typeface="微软雅黑" panose="020B0503020204020204" charset="-122"/>
              </a:rPr>
              <a:t>AttriGuard 识别影响来源；WarrantGuard 判断这种影响是否允许进入受保护动作字段。这是相关工作边界的核心句。</a:t>
            </a:r>
            <a:endParaRPr sz="1300" b="0">
              <a:solidFill>
                <a:srgbClr val="0A1423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1169</Words>
  <Application>WPS 演示</Application>
  <PresentationFormat>On-screen Show (4:3)</PresentationFormat>
  <Paragraphs>74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断南</cp:lastModifiedBy>
  <cp:revision>3</cp:revision>
  <dcterms:created xsi:type="dcterms:W3CDTF">2013-01-27T09:14:00Z</dcterms:created>
  <dcterms:modified xsi:type="dcterms:W3CDTF">2026-06-24T05:38:59Z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8753D03E401947BA98B1130CC8C50033_12</vt:lpwstr>
  </property>
  <property fmtid="{D5CDD505-2E9C-101B-9397-08002B2CF9AE}" pid="3" name="KSOProductBuildVer">
    <vt:lpwstr>2052-12.1.0.26895</vt:lpwstr>
  </property>
</Properties>
</file>