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8"/>
        <p:guide pos="38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lang="zh-CN" sz="20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核心创新：</a:t>
            </a:r>
            <a:r>
              <a:rPr lang="en-US" altLang="zh-CN" sz="20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Evidence-Capability Laundering</a:t>
            </a:r>
            <a:endParaRPr lang="en-US" altLang="zh-CN" sz="2000" b="1">
              <a:solidFill>
                <a:srgbClr val="005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sz="700">
              <a:solidFill>
                <a:srgbClr val="4C668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800">
                <a:solidFill>
                  <a:srgbClr val="4C668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02 / 03</a:t>
            </a:r>
            <a:endParaRPr lang="en-US" sz="800">
              <a:solidFill>
                <a:srgbClr val="4C668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1219200"/>
            <a:ext cx="9334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>
                <a:solidFill>
                  <a:srgbClr val="000000"/>
                </a:solidFill>
              </a:rPr>
              <a:t>同一条可信</a:t>
            </a:r>
            <a:r>
              <a:rPr lang="en-US" altLang="zh-CN" sz="1400">
                <a:solidFill>
                  <a:srgbClr val="000000"/>
                </a:solidFill>
              </a:rPr>
              <a:t> evidence </a:t>
            </a:r>
            <a:r>
              <a:rPr lang="zh-CN" altLang="en-US" sz="1400">
                <a:solidFill>
                  <a:srgbClr val="000000"/>
                </a:solidFill>
              </a:rPr>
              <a:t>可以合法支持一个字段，却不能自动获得另一个</a:t>
            </a:r>
            <a:r>
              <a:rPr lang="en-US" altLang="zh-CN" sz="1400">
                <a:solidFill>
                  <a:srgbClr val="000000"/>
                </a:solidFill>
              </a:rPr>
              <a:t> protected field </a:t>
            </a:r>
            <a:r>
              <a:rPr lang="zh-CN" altLang="en-US" sz="1400">
                <a:solidFill>
                  <a:srgbClr val="000000"/>
                </a:solidFill>
              </a:rPr>
              <a:t>的治理权。</a:t>
            </a:r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952500" y="2286000"/>
            <a:ext cx="2095500" cy="10414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p>
            <a:pPr algn="ctr"/>
            <a:r>
              <a:rPr lang="zh-CN" altLang="en-US" sz="15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</a:t>
            </a:r>
            <a:r>
              <a:rPr lang="en-US" altLang="zh-CN" sz="15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policy evidence</a:t>
            </a:r>
            <a:endParaRPr lang="en-US" altLang="zh-CN" sz="1500" b="1">
              <a:solidFill>
                <a:srgbClr val="005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签名、当前</a:t>
            </a:r>
            <a:endParaRPr lang="en-US" alt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可用于路由</a:t>
            </a:r>
            <a:endParaRPr lang="zh-CN" alt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873500" y="2286000"/>
            <a:ext cx="2286000" cy="1041400"/>
          </a:xfrm>
          <a:prstGeom prst="roundRect">
            <a:avLst/>
          </a:prstGeom>
          <a:solidFill>
            <a:srgbClr val="E0E7FF"/>
          </a:solidFill>
          <a:ln w="15875">
            <a:solidFill>
              <a:srgbClr val="4F46E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p>
            <a:pPr algn="ctr"/>
            <a:r>
              <a:rPr lang="en-US" altLang="en-US" sz="1500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ECap(e)</a:t>
            </a:r>
            <a:endParaRPr lang="en-US" altLang="en-US" sz="1500" b="1">
              <a:solidFill>
                <a:srgbClr val="4F46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允许字段：</a:t>
            </a:r>
            <a:r>
              <a:rPr lang="en-US" altLang="zh-CN" sz="1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route_to_simulation</a:t>
            </a:r>
            <a:endParaRPr lang="en-US" altLang="zh-CN" sz="1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强度：只支持路由</a:t>
            </a:r>
            <a:endParaRPr lang="zh-CN" altLang="zh-CN" sz="1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175500" y="1714500"/>
            <a:ext cx="2794000" cy="9906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p>
            <a:pPr algn="ctr"/>
            <a:r>
              <a:rPr lang="zh-CN" altLang="en-US"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合法消费</a:t>
            </a:r>
            <a:endParaRPr lang="en-US" altLang="zh-CN"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route_to_simulation = true</a:t>
            </a:r>
            <a:endParaRPr lang="en-US" alt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378575" y="3853815"/>
            <a:ext cx="2794000" cy="111760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p>
            <a:pPr algn="ctr"/>
            <a:r>
              <a:rPr lang="zh-CN" altLang="en-US"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洗白消费</a:t>
            </a:r>
            <a:endParaRPr lang="en-US" altLang="zh-CN"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approval=false</a:t>
            </a:r>
            <a:endParaRPr lang="en-US" altLang="zh-CN" sz="1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risk=low</a:t>
            </a:r>
            <a:endParaRPr lang="en-US" altLang="zh-CN" sz="1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report=safe_no_review</a:t>
            </a:r>
            <a:endParaRPr lang="en-US" altLang="zh-CN" sz="1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菱形 21"/>
          <p:cNvSpPr/>
          <p:nvPr/>
        </p:nvSpPr>
        <p:spPr>
          <a:xfrm>
            <a:off x="10287000" y="2832100"/>
            <a:ext cx="1219200" cy="990600"/>
          </a:xfrm>
          <a:prstGeom prst="diamond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200" b="1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</a:rPr>
              <a:t>Gate</a:t>
            </a:r>
            <a:endParaRPr lang="en-US" altLang="en-US" sz="1200" b="1">
              <a:solidFill>
                <a:srgbClr val="7C2D1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en-US" sz="1200" b="1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</a:rPr>
              <a:t>ValidField</a:t>
            </a:r>
            <a:endParaRPr lang="en-US" altLang="en-US" sz="1200" b="1">
              <a:solidFill>
                <a:srgbClr val="7C2D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0112375" y="533400"/>
            <a:ext cx="1841500" cy="68580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10B98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p>
            <a:pPr algn="ctr"/>
            <a:r>
              <a:rPr lang="en-US" altLang="en-US"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ALLOW</a:t>
            </a:r>
            <a:endParaRPr lang="en-US" altLang="en-US"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字段在</a:t>
            </a:r>
            <a:r>
              <a:rPr lang="en-US" altLang="zh-CN" sz="1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scope </a:t>
            </a:r>
            <a:r>
              <a:rPr lang="zh-CN" altLang="en-US" sz="1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</a:t>
            </a:r>
            <a:endParaRPr lang="zh-CN" altLang="en-US" sz="1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9677400" y="5334000"/>
            <a:ext cx="2095500" cy="736600"/>
          </a:xfrm>
          <a:prstGeom prst="roundRect">
            <a:avLst/>
          </a:prstGeom>
          <a:solidFill>
            <a:srgbClr val="FFF1F2"/>
          </a:solidFill>
          <a:ln w="15875">
            <a:solidFill>
              <a:srgbClr val="E11D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p>
            <a:pPr algn="ctr"/>
            <a:r>
              <a:rPr lang="en-US" altLang="en-US" sz="15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 / REVIEW</a:t>
            </a:r>
            <a:endParaRPr lang="en-US" altLang="en-US" sz="15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字段越界消费</a:t>
            </a:r>
            <a:endParaRPr lang="zh-CN" altLang="en-US" sz="1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048000" y="2806700"/>
            <a:ext cx="825500" cy="635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endCxn id="20" idx="1"/>
          </p:cNvCxnSpPr>
          <p:nvPr/>
        </p:nvCxnSpPr>
        <p:spPr>
          <a:xfrm flipV="1">
            <a:off x="6159500" y="2209800"/>
            <a:ext cx="1016000" cy="406400"/>
          </a:xfrm>
          <a:prstGeom prst="line">
            <a:avLst/>
          </a:prstGeom>
          <a:ln w="25400">
            <a:solidFill>
              <a:srgbClr val="05966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19" idx="2"/>
            <a:endCxn id="21" idx="1"/>
          </p:cNvCxnSpPr>
          <p:nvPr/>
        </p:nvCxnSpPr>
        <p:spPr>
          <a:xfrm>
            <a:off x="5016500" y="3327400"/>
            <a:ext cx="1362075" cy="1085215"/>
          </a:xfrm>
          <a:prstGeom prst="line">
            <a:avLst/>
          </a:prstGeom>
          <a:ln w="25400">
            <a:solidFill>
              <a:srgbClr val="DC262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endCxn id="22" idx="1"/>
          </p:cNvCxnSpPr>
          <p:nvPr/>
        </p:nvCxnSpPr>
        <p:spPr>
          <a:xfrm>
            <a:off x="9969500" y="2209800"/>
            <a:ext cx="317500" cy="1117600"/>
          </a:xfrm>
          <a:prstGeom prst="line">
            <a:avLst/>
          </a:prstGeom>
          <a:ln w="25400">
            <a:solidFill>
              <a:srgbClr val="05966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21" idx="3"/>
          </p:cNvCxnSpPr>
          <p:nvPr/>
        </p:nvCxnSpPr>
        <p:spPr>
          <a:xfrm>
            <a:off x="9172575" y="4412615"/>
            <a:ext cx="1241425" cy="921385"/>
          </a:xfrm>
          <a:prstGeom prst="line">
            <a:avLst/>
          </a:prstGeom>
          <a:ln w="25400">
            <a:solidFill>
              <a:srgbClr val="DC262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23" idx="2"/>
          </p:cNvCxnSpPr>
          <p:nvPr/>
        </p:nvCxnSpPr>
        <p:spPr>
          <a:xfrm flipH="1">
            <a:off x="10896600" y="1219200"/>
            <a:ext cx="136525" cy="1612900"/>
          </a:xfrm>
          <a:prstGeom prst="line">
            <a:avLst/>
          </a:prstGeom>
          <a:ln w="25400">
            <a:solidFill>
              <a:srgbClr val="05966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22" idx="2"/>
          </p:cNvCxnSpPr>
          <p:nvPr/>
        </p:nvCxnSpPr>
        <p:spPr>
          <a:xfrm>
            <a:off x="10896600" y="3822700"/>
            <a:ext cx="190500" cy="1511300"/>
          </a:xfrm>
          <a:prstGeom prst="line">
            <a:avLst/>
          </a:prstGeom>
          <a:ln w="25400">
            <a:solidFill>
              <a:srgbClr val="DC262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742950" y="5411470"/>
            <a:ext cx="7747000" cy="267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关键测试：</a:t>
            </a:r>
            <a:r>
              <a:rPr lang="en-US" altLang="zh-CN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same_evidence_field_capability_laundering </a:t>
            </a:r>
            <a:r>
              <a:rPr lang="zh-CN" altLang="en-US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接受</a:t>
            </a:r>
            <a:r>
              <a:rPr lang="en-US" altLang="zh-CN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</a:t>
            </a:r>
            <a:r>
              <a:rPr lang="en-US" altLang="zh-CN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，拒绝</a:t>
            </a:r>
            <a:r>
              <a:rPr lang="en-US" altLang="zh-CN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免审</a:t>
            </a:r>
            <a:r>
              <a:rPr lang="en-US" altLang="zh-CN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降风险</a:t>
            </a:r>
            <a:r>
              <a:rPr lang="en-US" altLang="zh-CN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安全报告</a:t>
            </a:r>
            <a:r>
              <a:rPr lang="en-US" altLang="zh-CN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15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150" b="1">
              <a:solidFill>
                <a:srgbClr val="005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75335" y="5913120"/>
            <a:ext cx="74930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</a:t>
            </a:r>
            <a:r>
              <a:rPr lang="en-US" altLang="zh-CN"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tool capability laundering</a:t>
            </a:r>
            <a:r>
              <a:rPr lang="zh-CN" altLang="en-US"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</a:t>
            </a:r>
            <a:r>
              <a:rPr lang="en-US" altLang="zh-CN"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evidence authority </a:t>
            </a:r>
            <a:r>
              <a:rPr lang="zh-CN" altLang="en-US"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action fields </a:t>
            </a:r>
            <a:r>
              <a:rPr lang="zh-CN" altLang="en-US"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的越界消费。</a:t>
            </a:r>
            <a:endParaRPr lang="zh-CN" altLang="en-US" sz="10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lang="en-US" sz="22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AttriGuard </a:t>
            </a:r>
            <a:r>
              <a:rPr lang="zh-CN" altLang="en-US" sz="22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总结：动作归因防御</a:t>
            </a:r>
            <a:r>
              <a:rPr lang="en-US" altLang="zh-CN" sz="22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IPI</a:t>
            </a:r>
            <a:endParaRPr lang="en-US" altLang="zh-CN" sz="2200" b="1">
              <a:solidFill>
                <a:srgbClr val="005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800" b="1">
                <a:solidFill>
                  <a:srgbClr val="80664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01 / 01</a:t>
            </a:r>
            <a:endParaRPr lang="en-US" sz="800" b="1">
              <a:solidFill>
                <a:srgbClr val="80664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1219200"/>
            <a:ext cx="9334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000000"/>
                </a:solidFill>
              </a:rPr>
              <a:t>一句话：不判断</a:t>
            </a:r>
            <a:r>
              <a:rPr lang="en-US" altLang="zh-CN" sz="1500" b="1">
                <a:solidFill>
                  <a:srgbClr val="000000"/>
                </a:solidFill>
              </a:rPr>
              <a:t>“</a:t>
            </a:r>
            <a:r>
              <a:rPr lang="zh-CN" altLang="en-US" sz="1500" b="1">
                <a:solidFill>
                  <a:srgbClr val="000000"/>
                </a:solidFill>
              </a:rPr>
              <a:t>外部文本像不像攻击</a:t>
            </a:r>
            <a:r>
              <a:rPr lang="en-US" altLang="zh-CN" sz="1500" b="1">
                <a:solidFill>
                  <a:srgbClr val="000000"/>
                </a:solidFill>
              </a:rPr>
              <a:t>”</a:t>
            </a:r>
            <a:r>
              <a:rPr lang="zh-CN" altLang="en-US" sz="1500" b="1">
                <a:solidFill>
                  <a:srgbClr val="000000"/>
                </a:solidFill>
              </a:rPr>
              <a:t>，而是在执行前做</a:t>
            </a:r>
            <a:r>
              <a:rPr lang="en-US" altLang="zh-CN" sz="1500" b="1">
                <a:solidFill>
                  <a:srgbClr val="000000"/>
                </a:solidFill>
              </a:rPr>
              <a:t> original / shadow </a:t>
            </a:r>
            <a:r>
              <a:rPr lang="zh-CN" altLang="en-US" sz="1500" b="1">
                <a:solidFill>
                  <a:srgbClr val="000000"/>
                </a:solidFill>
              </a:rPr>
              <a:t>反事实，验证工具调用是否仍由用户任务支持。</a:t>
            </a:r>
            <a:endParaRPr lang="zh-CN" altLang="en-US" sz="1500" b="1">
              <a:solidFill>
                <a:srgbClr val="00000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4875" y="2000250"/>
            <a:ext cx="47625" cy="1381125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2500" y="2000250"/>
            <a:ext cx="3095625" cy="1381125"/>
          </a:xfrm>
          <a:prstGeom prst="rect">
            <a:avLst/>
          </a:prstGeom>
          <a:solidFill>
            <a:srgbClr val="FFF3E8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763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F47C20"/>
                </a:solidFill>
              </a:rPr>
              <a:t>问题：</a:t>
            </a:r>
            <a:r>
              <a:rPr lang="en-US" altLang="zh-CN" sz="1400" b="1">
                <a:solidFill>
                  <a:srgbClr val="F47C20"/>
                </a:solidFill>
              </a:rPr>
              <a:t>IPI </a:t>
            </a:r>
            <a:r>
              <a:rPr lang="zh-CN" altLang="en-US" sz="1400" b="1">
                <a:solidFill>
                  <a:srgbClr val="F47C20"/>
                </a:solidFill>
              </a:rPr>
              <a:t>把数据伪装成指令</a:t>
            </a:r>
            <a:endParaRPr lang="zh-CN" altLang="en-US" sz="1400" b="1">
              <a:solidFill>
                <a:srgbClr val="F47C20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76325" y="2457450"/>
            <a:ext cx="283845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000000"/>
                </a:solidFill>
              </a:rPr>
              <a:t>恶意指令藏在网页、邮件、</a:t>
            </a:r>
            <a:r>
              <a:rPr lang="en-US" altLang="zh-CN" sz="1200" b="0">
                <a:solidFill>
                  <a:srgbClr val="000000"/>
                </a:solidFill>
              </a:rPr>
              <a:t>API </a:t>
            </a:r>
            <a:r>
              <a:rPr lang="zh-CN" altLang="en-US" sz="1200" b="0">
                <a:solidFill>
                  <a:srgbClr val="000000"/>
                </a:solidFill>
              </a:rPr>
              <a:t>结果中；输入语义检测容易被新</a:t>
            </a:r>
            <a:r>
              <a:rPr lang="en-US" altLang="zh-CN" sz="1200" b="0">
                <a:solidFill>
                  <a:srgbClr val="000000"/>
                </a:solidFill>
              </a:rPr>
              <a:t> payload </a:t>
            </a:r>
            <a:r>
              <a:rPr lang="zh-CN" altLang="en-US" sz="1200" b="0">
                <a:solidFill>
                  <a:srgbClr val="000000"/>
                </a:solidFill>
              </a:rPr>
              <a:t>绕过，关键风险是工具调用被不可信观察驱动。</a:t>
            </a:r>
            <a:endParaRPr lang="zh-CN" altLang="en-US" sz="1200" b="0">
              <a:solidFill>
                <a:srgbClr val="00000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524375" y="2000250"/>
            <a:ext cx="47625" cy="1381125"/>
          </a:xfrm>
          <a:prstGeom prst="rect">
            <a:avLst/>
          </a:prstGeom>
          <a:solidFill>
            <a:srgbClr val="005F85"/>
          </a:solidFill>
          <a:ln w="0">
            <a:solidFill>
              <a:srgbClr val="005F85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572000" y="2000250"/>
            <a:ext cx="3095625" cy="1381125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6958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00567A"/>
                </a:solidFill>
              </a:rPr>
              <a:t>方法：</a:t>
            </a:r>
            <a:r>
              <a:rPr lang="en-US" altLang="zh-CN" sz="1400" b="1">
                <a:solidFill>
                  <a:srgbClr val="00567A"/>
                </a:solidFill>
              </a:rPr>
              <a:t>Original vs Shadow</a:t>
            </a:r>
            <a:endParaRPr lang="en-US" altLang="zh-CN" sz="1400" b="1">
              <a:solidFill>
                <a:srgbClr val="00567A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695825" y="2457450"/>
            <a:ext cx="283845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000000"/>
                </a:solidFill>
              </a:rPr>
              <a:t>保留原执行历史，只削弱新增观察的控制力；</a:t>
            </a:r>
            <a:r>
              <a:rPr lang="en-US" altLang="zh-CN" sz="1200" b="0">
                <a:solidFill>
                  <a:srgbClr val="000000"/>
                </a:solidFill>
              </a:rPr>
              <a:t>teacher-forced replay </a:t>
            </a:r>
            <a:r>
              <a:rPr lang="zh-CN" altLang="en-US" sz="1200" b="0">
                <a:solidFill>
                  <a:srgbClr val="000000"/>
                </a:solidFill>
              </a:rPr>
              <a:t>后做</a:t>
            </a:r>
            <a:r>
              <a:rPr lang="en-US" altLang="zh-CN" sz="1200" b="0">
                <a:solidFill>
                  <a:srgbClr val="000000"/>
                </a:solidFill>
              </a:rPr>
              <a:t> fuzzy survival test</a:t>
            </a:r>
            <a:r>
              <a:rPr lang="zh-CN" altLang="en-US" sz="1200" b="0">
                <a:solidFill>
                  <a:srgbClr val="000000"/>
                </a:solidFill>
              </a:rPr>
              <a:t>，存活则执行，失败则阻断。</a:t>
            </a:r>
            <a:endParaRPr lang="zh-CN" altLang="en-US" sz="1200" b="0">
              <a:solidFill>
                <a:srgbClr val="000000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143875" y="2000250"/>
            <a:ext cx="47625" cy="1381125"/>
          </a:xfrm>
          <a:prstGeom prst="rect">
            <a:avLst/>
          </a:prstGeom>
          <a:solidFill>
            <a:srgbClr val="D94D4D"/>
          </a:solidFill>
          <a:ln w="0">
            <a:solidFill>
              <a:srgbClr val="D94D4D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91500" y="2000250"/>
            <a:ext cx="3095625" cy="1381125"/>
          </a:xfrm>
          <a:prstGeom prst="rect">
            <a:avLst/>
          </a:prstGeom>
          <a:solidFill>
            <a:srgbClr val="FFF0F0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3153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D94A4A"/>
                </a:solidFill>
              </a:rPr>
              <a:t>结果：</a:t>
            </a:r>
            <a:r>
              <a:rPr lang="en-US" altLang="zh-CN" sz="1400" b="1">
                <a:solidFill>
                  <a:srgbClr val="D94A4A"/>
                </a:solidFill>
              </a:rPr>
              <a:t>ASR </a:t>
            </a:r>
            <a:r>
              <a:rPr lang="zh-CN" altLang="en-US" sz="1400" b="1">
                <a:solidFill>
                  <a:srgbClr val="D94A4A"/>
                </a:solidFill>
              </a:rPr>
              <a:t>归零，</a:t>
            </a:r>
            <a:r>
              <a:rPr lang="en-US" altLang="zh-CN" sz="1400" b="1">
                <a:solidFill>
                  <a:srgbClr val="D94A4A"/>
                </a:solidFill>
              </a:rPr>
              <a:t>BU </a:t>
            </a:r>
            <a:r>
              <a:rPr lang="zh-CN" altLang="en-US" sz="1400" b="1">
                <a:solidFill>
                  <a:srgbClr val="D94A4A"/>
                </a:solidFill>
              </a:rPr>
              <a:t>基本保留</a:t>
            </a:r>
            <a:endParaRPr lang="zh-CN" altLang="en-US" sz="1400" b="1">
              <a:solidFill>
                <a:srgbClr val="D94A4A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315325" y="2457450"/>
            <a:ext cx="283845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0">
                <a:solidFill>
                  <a:srgbClr val="000000"/>
                </a:solidFill>
              </a:rPr>
              <a:t>AgentDojo </a:t>
            </a:r>
            <a:r>
              <a:rPr lang="zh-CN" altLang="en-US" sz="1200" b="0">
                <a:solidFill>
                  <a:srgbClr val="000000"/>
                </a:solidFill>
              </a:rPr>
              <a:t>四类静态攻击主要实验</a:t>
            </a:r>
            <a:r>
              <a:rPr lang="en-US" altLang="zh-CN" sz="1200" b="0">
                <a:solidFill>
                  <a:srgbClr val="000000"/>
                </a:solidFill>
              </a:rPr>
              <a:t> ASR=0%</a:t>
            </a:r>
            <a:r>
              <a:rPr lang="zh-CN" altLang="en-US" sz="1200" b="0">
                <a:solidFill>
                  <a:srgbClr val="000000"/>
                </a:solidFill>
              </a:rPr>
              <a:t>；</a:t>
            </a:r>
            <a:r>
              <a:rPr lang="en-US" altLang="zh-CN" sz="1200" b="0">
                <a:solidFill>
                  <a:srgbClr val="000000"/>
                </a:solidFill>
              </a:rPr>
              <a:t>BU </a:t>
            </a:r>
            <a:r>
              <a:rPr lang="zh-CN" altLang="en-US" sz="1200" b="0">
                <a:solidFill>
                  <a:srgbClr val="000000"/>
                </a:solidFill>
              </a:rPr>
              <a:t>与无防御接近。自适应攻击仍为</a:t>
            </a:r>
            <a:r>
              <a:rPr lang="en-US" altLang="zh-CN" sz="1200" b="0">
                <a:solidFill>
                  <a:srgbClr val="000000"/>
                </a:solidFill>
              </a:rPr>
              <a:t> Gemini 6.56%</a:t>
            </a:r>
            <a:r>
              <a:rPr lang="zh-CN" altLang="en-US" sz="1200" b="0">
                <a:solidFill>
                  <a:srgbClr val="000000"/>
                </a:solidFill>
              </a:rPr>
              <a:t>、</a:t>
            </a:r>
            <a:r>
              <a:rPr lang="en-US" altLang="zh-CN" sz="1200" b="0">
                <a:solidFill>
                  <a:srgbClr val="000000"/>
                </a:solidFill>
              </a:rPr>
              <a:t>Llama 9.84%</a:t>
            </a:r>
            <a:r>
              <a:rPr lang="zh-CN" altLang="en-US" sz="1200" b="0">
                <a:solidFill>
                  <a:srgbClr val="000000"/>
                </a:solidFill>
              </a:rPr>
              <a:t>。</a:t>
            </a:r>
            <a:endParaRPr lang="zh-CN" altLang="en-US" sz="1200" b="0">
              <a:solidFill>
                <a:srgbClr val="000000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47750" y="4095750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00" b="1">
                <a:solidFill>
                  <a:srgbClr val="00567A"/>
                </a:solidFill>
                <a:cs typeface="微软雅黑" panose="020B0503020204020204" charset="-122"/>
              </a:rPr>
              <a:t>我的评价</a:t>
            </a:r>
            <a:endParaRPr lang="zh-CN" sz="1700" b="1">
              <a:solidFill>
                <a:srgbClr val="00567A"/>
              </a:solidFill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714625" y="4048125"/>
            <a:ext cx="8096250" cy="78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0">
                <a:solidFill>
                  <a:srgbClr val="000000"/>
                </a:solidFill>
              </a:rPr>
              <a:t>贡献是把</a:t>
            </a:r>
            <a:r>
              <a:rPr lang="en-US" altLang="zh-CN" sz="1400" b="0">
                <a:solidFill>
                  <a:srgbClr val="000000"/>
                </a:solidFill>
              </a:rPr>
              <a:t> IPI </a:t>
            </a:r>
            <a:r>
              <a:rPr lang="zh-CN" altLang="en-US" sz="1400" b="0">
                <a:solidFill>
                  <a:srgbClr val="000000"/>
                </a:solidFill>
              </a:rPr>
              <a:t>防御从</a:t>
            </a:r>
            <a:r>
              <a:rPr lang="en-US" altLang="zh-CN" sz="1400" b="0">
                <a:solidFill>
                  <a:srgbClr val="000000"/>
                </a:solidFill>
              </a:rPr>
              <a:t>“</a:t>
            </a:r>
            <a:r>
              <a:rPr lang="zh-CN" altLang="en-US" sz="1400" b="0">
                <a:solidFill>
                  <a:srgbClr val="000000"/>
                </a:solidFill>
              </a:rPr>
              <a:t>文本分类</a:t>
            </a:r>
            <a:r>
              <a:rPr lang="en-US" altLang="zh-CN" sz="1400" b="0">
                <a:solidFill>
                  <a:srgbClr val="000000"/>
                </a:solidFill>
              </a:rPr>
              <a:t>”</a:t>
            </a:r>
            <a:r>
              <a:rPr lang="zh-CN" altLang="en-US" sz="1400" b="0">
                <a:solidFill>
                  <a:srgbClr val="000000"/>
                </a:solidFill>
              </a:rPr>
              <a:t>推进到</a:t>
            </a:r>
            <a:r>
              <a:rPr lang="en-US" altLang="zh-CN" sz="1400" b="0">
                <a:solidFill>
                  <a:srgbClr val="000000"/>
                </a:solidFill>
              </a:rPr>
              <a:t> action-level causal attribution</a:t>
            </a:r>
            <a:r>
              <a:rPr lang="zh-CN" altLang="en-US" sz="1400" b="0">
                <a:solidFill>
                  <a:srgbClr val="000000"/>
                </a:solidFill>
              </a:rPr>
              <a:t>，对未知</a:t>
            </a:r>
            <a:r>
              <a:rPr lang="en-US" altLang="zh-CN" sz="1400" b="0">
                <a:solidFill>
                  <a:srgbClr val="000000"/>
                </a:solidFill>
              </a:rPr>
              <a:t> payload </a:t>
            </a:r>
            <a:r>
              <a:rPr lang="zh-CN" altLang="en-US" sz="1400" b="0">
                <a:solidFill>
                  <a:srgbClr val="000000"/>
                </a:solidFill>
              </a:rPr>
              <a:t>更有泛化希望；代价是每次调用需影子分支，长链路误报与延迟是落地瓶颈。</a:t>
            </a:r>
            <a:endParaRPr lang="zh-CN" altLang="en-US" sz="1400" b="0">
              <a:solidFill>
                <a:srgbClr val="000000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85875" y="5381625"/>
            <a:ext cx="9525000" cy="590550"/>
          </a:xfrm>
          <a:prstGeom prst="rect">
            <a:avLst/>
          </a:prstGeom>
          <a:solidFill>
            <a:srgbClr val="EAF8F1"/>
          </a:solidFill>
          <a:ln w="11430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00A565"/>
                </a:solidFill>
              </a:rPr>
              <a:t>讨论：把</a:t>
            </a:r>
            <a:r>
              <a:rPr lang="en-US" altLang="zh-CN" sz="1500" b="1">
                <a:solidFill>
                  <a:srgbClr val="00A565"/>
                </a:solidFill>
              </a:rPr>
              <a:t>“</a:t>
            </a:r>
            <a:r>
              <a:rPr lang="zh-CN" altLang="en-US" sz="1500" b="1">
                <a:solidFill>
                  <a:srgbClr val="00A565"/>
                </a:solidFill>
              </a:rPr>
              <a:t>阻断</a:t>
            </a:r>
            <a:r>
              <a:rPr lang="en-US" altLang="zh-CN" sz="1500" b="1">
                <a:solidFill>
                  <a:srgbClr val="00A565"/>
                </a:solidFill>
              </a:rPr>
              <a:t>”</a:t>
            </a:r>
            <a:r>
              <a:rPr lang="zh-CN" altLang="en-US" sz="1500" b="1">
                <a:solidFill>
                  <a:srgbClr val="00A565"/>
                </a:solidFill>
              </a:rPr>
              <a:t>改为</a:t>
            </a:r>
            <a:r>
              <a:rPr lang="en-US" altLang="zh-CN" sz="1500" b="1">
                <a:solidFill>
                  <a:srgbClr val="00A565"/>
                </a:solidFill>
              </a:rPr>
              <a:t>“</a:t>
            </a:r>
            <a:r>
              <a:rPr lang="zh-CN" altLang="en-US" sz="1500" b="1">
                <a:solidFill>
                  <a:srgbClr val="00A565"/>
                </a:solidFill>
              </a:rPr>
              <a:t>用户确认</a:t>
            </a:r>
            <a:r>
              <a:rPr lang="en-US" altLang="zh-CN" sz="1500" b="1">
                <a:solidFill>
                  <a:srgbClr val="00A565"/>
                </a:solidFill>
              </a:rPr>
              <a:t> / </a:t>
            </a:r>
            <a:r>
              <a:rPr lang="zh-CN" altLang="en-US" sz="1500" b="1">
                <a:solidFill>
                  <a:srgbClr val="00A565"/>
                </a:solidFill>
              </a:rPr>
              <a:t>降级执行</a:t>
            </a:r>
            <a:r>
              <a:rPr lang="en-US" altLang="zh-CN" sz="1500" b="1">
                <a:solidFill>
                  <a:srgbClr val="00A565"/>
                </a:solidFill>
              </a:rPr>
              <a:t>”</a:t>
            </a:r>
            <a:r>
              <a:rPr lang="zh-CN" altLang="en-US" sz="1500" b="1">
                <a:solidFill>
                  <a:srgbClr val="00A565"/>
                </a:solidFill>
              </a:rPr>
              <a:t>，能否在长链路任务中取得更好的安全</a:t>
            </a:r>
            <a:r>
              <a:rPr lang="en-US" altLang="zh-CN" sz="1500" b="1">
                <a:solidFill>
                  <a:srgbClr val="00A565"/>
                </a:solidFill>
              </a:rPr>
              <a:t>-</a:t>
            </a:r>
            <a:r>
              <a:rPr lang="zh-CN" altLang="en-US" sz="1500" b="1">
                <a:solidFill>
                  <a:srgbClr val="00A565"/>
                </a:solidFill>
              </a:rPr>
              <a:t>可用性折中？</a:t>
            </a:r>
            <a:endParaRPr lang="zh-CN" altLang="en-US" sz="1500" b="1">
              <a:solidFill>
                <a:srgbClr val="00A56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lang="zh-CN" sz="19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相关工作压力与下一步：</a:t>
            </a:r>
            <a:r>
              <a:rPr lang="en-US" altLang="zh-CN" sz="19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AttriGuard vs WarrantGuard</a:t>
            </a:r>
            <a:endParaRPr lang="en-US" altLang="zh-CN" sz="1900" b="1">
              <a:solidFill>
                <a:srgbClr val="005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700">
                <a:solidFill>
                  <a:srgbClr val="4C668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AttriGuard one-page synthesis + WarrantGuard weekly progress</a:t>
            </a:r>
            <a:endParaRPr lang="en-US" sz="700">
              <a:solidFill>
                <a:srgbClr val="4C668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800">
                <a:solidFill>
                  <a:srgbClr val="4C668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03 / 03</a:t>
            </a:r>
            <a:endParaRPr lang="en-US" sz="800">
              <a:solidFill>
                <a:srgbClr val="4C668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1219200"/>
            <a:ext cx="9334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400">
                <a:solidFill>
                  <a:srgbClr val="000000"/>
                </a:solidFill>
              </a:rPr>
              <a:t>AttriGuard </a:t>
            </a:r>
            <a:r>
              <a:rPr lang="zh-CN" altLang="en-US" sz="1400">
                <a:solidFill>
                  <a:srgbClr val="000000"/>
                </a:solidFill>
              </a:rPr>
              <a:t>已经占据</a:t>
            </a:r>
            <a:r>
              <a:rPr lang="en-US" altLang="zh-CN" sz="1400">
                <a:solidFill>
                  <a:srgbClr val="000000"/>
                </a:solidFill>
              </a:rPr>
              <a:t>“</a:t>
            </a:r>
            <a:r>
              <a:rPr lang="zh-CN" altLang="en-US" sz="1400">
                <a:solidFill>
                  <a:srgbClr val="000000"/>
                </a:solidFill>
              </a:rPr>
              <a:t>动作归因</a:t>
            </a:r>
            <a:r>
              <a:rPr lang="en-US" altLang="zh-CN" sz="1400">
                <a:solidFill>
                  <a:srgbClr val="000000"/>
                </a:solidFill>
              </a:rPr>
              <a:t>”</a:t>
            </a:r>
            <a:r>
              <a:rPr lang="zh-CN" altLang="en-US" sz="1400">
                <a:solidFill>
                  <a:srgbClr val="000000"/>
                </a:solidFill>
              </a:rPr>
              <a:t>：这个工具调用是谁推动的？</a:t>
            </a:r>
            <a:r>
              <a:rPr lang="en-US" altLang="zh-CN" sz="1400">
                <a:solidFill>
                  <a:srgbClr val="000000"/>
                </a:solidFill>
              </a:rPr>
              <a:t>WarrantGuard </a:t>
            </a:r>
            <a:r>
              <a:rPr lang="zh-CN" altLang="en-US" sz="1400">
                <a:solidFill>
                  <a:srgbClr val="000000"/>
                </a:solidFill>
              </a:rPr>
              <a:t>要回答更窄的问题：这条</a:t>
            </a:r>
            <a:r>
              <a:rPr lang="en-US" altLang="zh-CN" sz="1400">
                <a:solidFill>
                  <a:srgbClr val="000000"/>
                </a:solidFill>
              </a:rPr>
              <a:t> evidence </a:t>
            </a:r>
            <a:r>
              <a:rPr lang="zh-CN" altLang="en-US" sz="1400">
                <a:solidFill>
                  <a:srgbClr val="000000"/>
                </a:solidFill>
              </a:rPr>
              <a:t>是否有资格改变这个字段？</a:t>
            </a:r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4875" y="2000250"/>
            <a:ext cx="47625" cy="1381125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2500" y="2000250"/>
            <a:ext cx="3095625" cy="1381125"/>
          </a:xfrm>
          <a:prstGeom prst="rect">
            <a:avLst/>
          </a:prstGeom>
          <a:solidFill>
            <a:srgbClr val="FFF3E8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763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00">
                <a:solidFill>
                  <a:srgbClr val="F47C20"/>
                </a:solidFill>
              </a:rPr>
              <a:t>AttriGuard</a:t>
            </a:r>
            <a:r>
              <a:rPr lang="zh-CN" altLang="en-US" sz="1300">
                <a:solidFill>
                  <a:srgbClr val="F47C20"/>
                </a:solidFill>
              </a:rPr>
              <a:t>：动作归因</a:t>
            </a:r>
            <a:endParaRPr lang="zh-CN" altLang="en-US" sz="1300">
              <a:solidFill>
                <a:srgbClr val="F47C20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76325" y="2457450"/>
            <a:ext cx="283845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50">
                <a:solidFill>
                  <a:srgbClr val="000000"/>
                </a:solidFill>
              </a:rPr>
              <a:t>Original / shadow </a:t>
            </a:r>
            <a:r>
              <a:rPr lang="zh-CN" altLang="en-US" sz="1150">
                <a:solidFill>
                  <a:srgbClr val="000000"/>
                </a:solidFill>
              </a:rPr>
              <a:t>反事实测试工具调用是否由用户任务支持；静态攻击主要实验</a:t>
            </a:r>
            <a:r>
              <a:rPr lang="en-US" altLang="zh-CN" sz="1150">
                <a:solidFill>
                  <a:srgbClr val="000000"/>
                </a:solidFill>
              </a:rPr>
              <a:t> ASR=0%</a:t>
            </a:r>
            <a:r>
              <a:rPr lang="zh-CN" altLang="en-US" sz="1150">
                <a:solidFill>
                  <a:srgbClr val="000000"/>
                </a:solidFill>
              </a:rPr>
              <a:t>，但需要影子分支。</a:t>
            </a:r>
            <a:endParaRPr lang="zh-CN" altLang="en-US" sz="1150">
              <a:solidFill>
                <a:srgbClr val="00000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524375" y="2000250"/>
            <a:ext cx="47625" cy="1381125"/>
          </a:xfrm>
          <a:prstGeom prst="rect">
            <a:avLst/>
          </a:prstGeom>
          <a:solidFill>
            <a:srgbClr val="005F85"/>
          </a:solidFill>
          <a:ln w="0">
            <a:solidFill>
              <a:srgbClr val="005F85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572000" y="2000250"/>
            <a:ext cx="3095625" cy="1381125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6958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00">
                <a:solidFill>
                  <a:srgbClr val="00567A"/>
                </a:solidFill>
              </a:rPr>
              <a:t>WarrantGuard</a:t>
            </a:r>
            <a:r>
              <a:rPr lang="zh-CN" altLang="en-US" sz="1300">
                <a:solidFill>
                  <a:srgbClr val="00567A"/>
                </a:solidFill>
              </a:rPr>
              <a:t>：字段证据能力</a:t>
            </a:r>
            <a:endParaRPr lang="zh-CN" altLang="en-US" sz="1300">
              <a:solidFill>
                <a:srgbClr val="00567A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695825" y="2457450"/>
            <a:ext cx="283845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150">
                <a:solidFill>
                  <a:srgbClr val="000000"/>
                </a:solidFill>
              </a:rPr>
              <a:t>把</a:t>
            </a:r>
            <a:r>
              <a:rPr lang="en-US" altLang="zh-CN" sz="1150">
                <a:solidFill>
                  <a:srgbClr val="000000"/>
                </a:solidFill>
              </a:rPr>
              <a:t> retrieved evidence </a:t>
            </a:r>
            <a:r>
              <a:rPr lang="zh-CN" altLang="en-US" sz="1150">
                <a:solidFill>
                  <a:srgbClr val="000000"/>
                </a:solidFill>
              </a:rPr>
              <a:t>当作</a:t>
            </a:r>
            <a:r>
              <a:rPr lang="en-US" altLang="zh-CN" sz="1150">
                <a:solidFill>
                  <a:srgbClr val="000000"/>
                </a:solidFill>
              </a:rPr>
              <a:t> bounded capability</a:t>
            </a:r>
            <a:r>
              <a:rPr lang="zh-CN" altLang="en-US" sz="1150">
                <a:solidFill>
                  <a:srgbClr val="000000"/>
                </a:solidFill>
              </a:rPr>
              <a:t>；</a:t>
            </a:r>
            <a:r>
              <a:rPr lang="en-US" altLang="zh-CN" sz="1150">
                <a:solidFill>
                  <a:srgbClr val="000000"/>
                </a:solidFill>
              </a:rPr>
              <a:t>(a, W_a) </a:t>
            </a:r>
            <a:r>
              <a:rPr lang="zh-CN" altLang="en-US" sz="1150">
                <a:solidFill>
                  <a:srgbClr val="000000"/>
                </a:solidFill>
              </a:rPr>
              <a:t>中每个</a:t>
            </a:r>
            <a:r>
              <a:rPr lang="en-US" altLang="zh-CN" sz="1150">
                <a:solidFill>
                  <a:srgbClr val="000000"/>
                </a:solidFill>
              </a:rPr>
              <a:t> protected field </a:t>
            </a:r>
            <a:r>
              <a:rPr lang="zh-CN" altLang="en-US" sz="1150">
                <a:solidFill>
                  <a:srgbClr val="000000"/>
                </a:solidFill>
              </a:rPr>
              <a:t>必须通过</a:t>
            </a:r>
            <a:r>
              <a:rPr lang="en-US" altLang="zh-CN" sz="1150">
                <a:solidFill>
                  <a:srgbClr val="000000"/>
                </a:solidFill>
              </a:rPr>
              <a:t> ValidField</a:t>
            </a:r>
            <a:r>
              <a:rPr lang="zh-CN" altLang="en-US" sz="1150">
                <a:solidFill>
                  <a:srgbClr val="000000"/>
                </a:solidFill>
              </a:rPr>
              <a:t>。</a:t>
            </a:r>
            <a:endParaRPr lang="zh-CN" altLang="en-US" sz="1150">
              <a:solidFill>
                <a:srgbClr val="000000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143875" y="2000250"/>
            <a:ext cx="47625" cy="1381125"/>
          </a:xfrm>
          <a:prstGeom prst="rect">
            <a:avLst/>
          </a:prstGeom>
          <a:solidFill>
            <a:srgbClr val="D94D4D"/>
          </a:solidFill>
          <a:ln w="0">
            <a:solidFill>
              <a:srgbClr val="D94D4D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91500" y="2000250"/>
            <a:ext cx="3095625" cy="1381125"/>
          </a:xfrm>
          <a:prstGeom prst="rect">
            <a:avLst/>
          </a:prstGeom>
          <a:solidFill>
            <a:srgbClr val="FFF0F0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3153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13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00">
                <a:solidFill>
                  <a:srgbClr val="D94A4A"/>
                </a:solidFill>
              </a:rPr>
              <a:t>下一步：</a:t>
            </a:r>
            <a:r>
              <a:rPr lang="en-US" altLang="zh-CN" sz="1300">
                <a:solidFill>
                  <a:srgbClr val="D94A4A"/>
                </a:solidFill>
              </a:rPr>
              <a:t>live pair</a:t>
            </a:r>
            <a:endParaRPr lang="en-US" altLang="zh-CN" sz="1300">
              <a:solidFill>
                <a:srgbClr val="D94A4A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315325" y="2457450"/>
            <a:ext cx="283845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150">
                <a:solidFill>
                  <a:srgbClr val="000000"/>
                </a:solidFill>
              </a:rPr>
              <a:t>跑</a:t>
            </a:r>
            <a:r>
              <a:rPr lang="en-US" altLang="zh-CN" sz="1150">
                <a:solidFill>
                  <a:srgbClr val="000000"/>
                </a:solidFill>
              </a:rPr>
              <a:t> 8 conditions x 3 prompts</a:t>
            </a:r>
            <a:r>
              <a:rPr lang="zh-CN" altLang="en-US" sz="1150">
                <a:solidFill>
                  <a:srgbClr val="000000"/>
                </a:solidFill>
              </a:rPr>
              <a:t>；再加第</a:t>
            </a:r>
            <a:r>
              <a:rPr lang="en-US" altLang="zh-CN" sz="1150">
                <a:solidFill>
                  <a:srgbClr val="000000"/>
                </a:solidFill>
              </a:rPr>
              <a:t> 9 </a:t>
            </a:r>
            <a:r>
              <a:rPr lang="zh-CN" altLang="en-US" sz="1150">
                <a:solidFill>
                  <a:srgbClr val="000000"/>
                </a:solidFill>
              </a:rPr>
              <a:t>个</a:t>
            </a:r>
            <a:r>
              <a:rPr lang="en-US" altLang="zh-CN" sz="1150">
                <a:solidFill>
                  <a:srgbClr val="000000"/>
                </a:solidFill>
              </a:rPr>
              <a:t> same-evidence laundering </a:t>
            </a:r>
            <a:r>
              <a:rPr lang="zh-CN" altLang="en-US" sz="1150">
                <a:solidFill>
                  <a:srgbClr val="000000"/>
                </a:solidFill>
              </a:rPr>
              <a:t>条件；必须通过</a:t>
            </a:r>
            <a:r>
              <a:rPr lang="en-US" altLang="zh-CN" sz="1150">
                <a:solidFill>
                  <a:srgbClr val="000000"/>
                </a:solidFill>
              </a:rPr>
              <a:t> reviewed seal</a:t>
            </a:r>
            <a:r>
              <a:rPr lang="zh-CN" altLang="en-US" sz="1150">
                <a:solidFill>
                  <a:srgbClr val="000000"/>
                </a:solidFill>
              </a:rPr>
              <a:t>。</a:t>
            </a:r>
            <a:endParaRPr lang="zh-CN" altLang="en-US" sz="1150">
              <a:solidFill>
                <a:srgbClr val="000000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47750" y="4095750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buNone/>
              <a:def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00">
                <a:solidFill>
                  <a:srgbClr val="00567A"/>
                </a:solidFill>
                <a:cs typeface="微软雅黑" panose="020B0503020204020204" charset="-122"/>
              </a:rPr>
              <a:t>定位句</a:t>
            </a:r>
            <a:endParaRPr lang="zh-CN" sz="1700">
              <a:solidFill>
                <a:srgbClr val="00567A"/>
              </a:solidFill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714625" y="4048125"/>
            <a:ext cx="8096250" cy="78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buNone/>
              <a:def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00">
                <a:solidFill>
                  <a:srgbClr val="000000"/>
                </a:solidFill>
              </a:rPr>
              <a:t>AttriGuard identifies influence; WarrantGuard decides whether that influence is admissible for protected action fields. </a:t>
            </a:r>
            <a:r>
              <a:rPr lang="zh-CN" altLang="en-US" sz="1300">
                <a:solidFill>
                  <a:srgbClr val="000000"/>
                </a:solidFill>
              </a:rPr>
              <a:t>这句话可以作为</a:t>
            </a:r>
            <a:r>
              <a:rPr lang="en-US" altLang="zh-CN" sz="1300">
                <a:solidFill>
                  <a:srgbClr val="000000"/>
                </a:solidFill>
              </a:rPr>
              <a:t> related work </a:t>
            </a:r>
            <a:r>
              <a:rPr lang="zh-CN" altLang="en-US" sz="1300">
                <a:solidFill>
                  <a:srgbClr val="000000"/>
                </a:solidFill>
              </a:rPr>
              <a:t>的核心边界。</a:t>
            </a:r>
            <a:endParaRPr lang="zh-CN" altLang="en-US" sz="1300">
              <a:solidFill>
                <a:srgbClr val="000000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85875" y="5381625"/>
            <a:ext cx="9525000" cy="590550"/>
          </a:xfrm>
          <a:prstGeom prst="rect">
            <a:avLst/>
          </a:prstGeom>
          <a:solidFill>
            <a:srgbClr val="EAF8F1"/>
          </a:solidFill>
          <a:ln w="11430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buNone/>
              <a:def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>
                <a:solidFill>
                  <a:srgbClr val="00A565"/>
                </a:solidFill>
              </a:rPr>
              <a:t>讨论：如果</a:t>
            </a:r>
            <a:r>
              <a:rPr lang="en-US" altLang="zh-CN" sz="1400">
                <a:solidFill>
                  <a:srgbClr val="00A565"/>
                </a:solidFill>
              </a:rPr>
              <a:t> live matrix </a:t>
            </a:r>
            <a:r>
              <a:rPr lang="zh-CN" altLang="en-US" sz="1400">
                <a:solidFill>
                  <a:srgbClr val="00A565"/>
                </a:solidFill>
              </a:rPr>
              <a:t>失败，应降级为</a:t>
            </a:r>
            <a:r>
              <a:rPr lang="en-US" altLang="zh-CN" sz="1400">
                <a:solidFill>
                  <a:srgbClr val="00A565"/>
                </a:solidFill>
              </a:rPr>
              <a:t> benchmark/design/artifact contribution</a:t>
            </a:r>
            <a:r>
              <a:rPr lang="zh-CN" altLang="en-US" sz="1400">
                <a:solidFill>
                  <a:srgbClr val="00A565"/>
                </a:solidFill>
              </a:rPr>
              <a:t>，而不是宣称</a:t>
            </a:r>
            <a:r>
              <a:rPr lang="en-US" altLang="zh-CN" sz="1400">
                <a:solidFill>
                  <a:srgbClr val="00A565"/>
                </a:solidFill>
              </a:rPr>
              <a:t> live model behavior</a:t>
            </a:r>
            <a:r>
              <a:rPr lang="zh-CN" altLang="en-US" sz="1400">
                <a:solidFill>
                  <a:srgbClr val="00A565"/>
                </a:solidFill>
              </a:rPr>
              <a:t>。</a:t>
            </a:r>
            <a:endParaRPr lang="zh-CN" altLang="en-US" sz="1400">
              <a:solidFill>
                <a:srgbClr val="00A565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1703</Words>
  <Application>WPS 演示</Application>
  <PresentationFormat>宽屏</PresentationFormat>
  <Paragraphs>87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wang</dc:creator>
  <cp:lastModifiedBy>断南</cp:lastModifiedBy>
  <cp:revision>162</cp:revision>
  <dcterms:created xsi:type="dcterms:W3CDTF">2019-06-19T02:08:00Z</dcterms:created>
  <dcterms:modified xsi:type="dcterms:W3CDTF">2026-06-24T05:18:32Z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67C310A9BDAB49B7BDD285CF2CA89782_13</vt:lpwstr>
  </property>
</Properties>
</file>