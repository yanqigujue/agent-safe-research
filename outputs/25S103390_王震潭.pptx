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100000"/>
        </a:lnSpc>
        <a:spcBef>
          <a:spcPts val="0"/>
        </a:spcBef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论文汇报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2500" y="1619250"/>
            <a:ext cx="10096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28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AttriGuard: 通过工具调用的因果归因抵御间接提示注入</a:t>
            </a:r>
            <a:endParaRPr sz="285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90600" y="2724150"/>
            <a:ext cx="952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00" b="0">
                <a:solidFill>
                  <a:srgbClr val="4874C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4874C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Defeating Indirect Prompt Injection in LLM Agents via Causal Attribution of Tool Invocations</a:t>
            </a:r>
            <a:endParaRPr sz="1500" b="0">
              <a:solidFill>
                <a:srgbClr val="4874C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3429000"/>
            <a:ext cx="10287000" cy="14288"/>
          </a:xfrm>
          <a:prstGeom prst="rect">
            <a:avLst/>
          </a:prstGeom>
          <a:solidFill>
            <a:srgbClr val="D7E1EA"/>
          </a:solidFill>
          <a:ln w="0">
            <a:solidFill>
              <a:srgbClr val="D7E1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00125" y="3733800"/>
            <a:ext cx="6858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论文：Yu He, Haozhe Zhu, Yiming Li, Shuo Shao, Hongwei Yao, Zhihao Liu, Zhan Qin</a:t>
            </a:r>
            <a:endParaRPr sz="15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机构：Zhejiang University / NTU / City University of Hong Kong</a:t>
            </a:r>
            <a:endParaRPr sz="15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版本：arXiv:2603.10749v2，2026-06-10</a:t>
            </a:r>
            <a:endParaRPr sz="15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620125" y="3771900"/>
            <a:ext cx="2000250" cy="1047750"/>
          </a:xfrm>
          <a:prstGeom prst="rect">
            <a:avLst/>
          </a:prstGeom>
          <a:solidFill>
            <a:srgbClr val="EAF3F7"/>
          </a:solidFill>
          <a:ln w="11430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9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</a:t>
            </a:r>
            <a:endParaRPr sz="19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9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王震潭</a:t>
            </a:r>
            <a:endParaRPr sz="19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00125" y="542925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概括：</a:t>
            </a:r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不再问“外部文本像不像攻击”，而是问“这个工具调用到底是谁推动的”。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背景：LLM Agent 的 IPI 风险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81050" y="1238250"/>
            <a:ext cx="1028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72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间接提示注入（IPI）把恶意指令藏在网页、邮件、文档等工具返回内容里，Agent 为完成任务必须读取这些内容，于是可能把“数据”误当成“指令”。</a:t>
            </a:r>
            <a:endParaRPr sz="172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4875" y="2381250"/>
            <a:ext cx="2000250" cy="476250"/>
          </a:xfrm>
          <a:prstGeom prst="rect">
            <a:avLst/>
          </a:prstGeom>
          <a:solidFill>
            <a:srgbClr val="EAF3F7"/>
          </a:solidFill>
          <a:ln w="11430">
            <a:solidFill>
              <a:srgbClr val="D7E1E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5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用户任务</a:t>
            </a:r>
            <a:endParaRPr sz="150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00125" y="3000375"/>
            <a:ext cx="1809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ctr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总结邮件、读取网页、办理流程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000375" y="2609850"/>
            <a:ext cx="76200" cy="19050"/>
          </a:xfrm>
          <a:prstGeom prst="rect">
            <a:avLst/>
          </a:prstGeom>
          <a:solidFill>
            <a:srgbClr val="4874CB"/>
          </a:solidFill>
          <a:ln w="0">
            <a:solidFill>
              <a:srgbClr val="4874C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038475" y="2447925"/>
            <a:ext cx="28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2100" b="1">
                <a:solidFill>
                  <a:srgbClr val="4874C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4874C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endParaRPr sz="2100" b="1">
              <a:solidFill>
                <a:srgbClr val="4874C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476625" y="2381250"/>
            <a:ext cx="20002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1E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5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读取外部内容</a:t>
            </a:r>
            <a:endParaRPr sz="150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571875" y="3000375"/>
            <a:ext cx="1809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ctr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工具返回网页/邮件/API 结果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72125" y="2609850"/>
            <a:ext cx="76200" cy="1905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610225" y="2447925"/>
            <a:ext cx="28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2100" b="1">
                <a:solidFill>
                  <a:srgbClr val="EE822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EE822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endParaRPr sz="2100" b="1">
              <a:solidFill>
                <a:srgbClr val="EE822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048375" y="2381250"/>
            <a:ext cx="2000250" cy="476250"/>
          </a:xfrm>
          <a:prstGeom prst="rect">
            <a:avLst/>
          </a:prstGeom>
          <a:solidFill>
            <a:srgbClr val="FFF3E8"/>
          </a:solidFill>
          <a:ln w="11430">
            <a:solidFill>
              <a:srgbClr val="EE822F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5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恶意指令混入观察</a:t>
            </a:r>
            <a:endParaRPr sz="15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43625" y="3000375"/>
            <a:ext cx="1809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ctr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例如要求转发隐私或付款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43875" y="2609850"/>
            <a:ext cx="76200" cy="19050"/>
          </a:xfrm>
          <a:prstGeom prst="rect">
            <a:avLst/>
          </a:prstGeom>
          <a:solidFill>
            <a:srgbClr val="4874CB"/>
          </a:solidFill>
          <a:ln w="0">
            <a:solidFill>
              <a:srgbClr val="4874CB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181975" y="2447925"/>
            <a:ext cx="28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2100" b="1">
                <a:solidFill>
                  <a:srgbClr val="4874C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4874C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endParaRPr sz="2100" b="1">
              <a:solidFill>
                <a:srgbClr val="4874C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620125" y="2381250"/>
            <a:ext cx="2000250" cy="476250"/>
          </a:xfrm>
          <a:prstGeom prst="rect">
            <a:avLst/>
          </a:prstGeom>
          <a:solidFill>
            <a:srgbClr val="FFF0F0"/>
          </a:solidFill>
          <a:ln w="11430">
            <a:solidFill>
              <a:srgbClr val="D7E1E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5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越权工具调用</a:t>
            </a:r>
            <a:endParaRPr sz="150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15375" y="3000375"/>
            <a:ext cx="1809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ctr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数据泄露、资金损失、状态被篡改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43000" y="4572000"/>
            <a:ext cx="47625" cy="12192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190625" y="4572000"/>
            <a:ext cx="4429125" cy="1219200"/>
          </a:xfrm>
          <a:prstGeom prst="rect">
            <a:avLst/>
          </a:prstGeom>
          <a:solidFill>
            <a:srgbClr val="FFF8F1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314450" y="4705350"/>
            <a:ext cx="417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已有防御的共同弱点</a:t>
            </a:r>
            <a:endParaRPr sz="135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314450" y="5029200"/>
            <a:ext cx="4171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多数方法把安全性建模为输入语义判别：识别“像攻击”的文本。问题是语言空间高维且分布会变，新的 payload 很容易绕开固定边界。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572250" y="4572000"/>
            <a:ext cx="47625" cy="1219200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619875" y="4572000"/>
            <a:ext cx="3952875" cy="1219200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743700" y="4705350"/>
            <a:ext cx="3695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本文要解决的矛盾</a:t>
            </a:r>
            <a:endParaRPr sz="13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743700" y="5029200"/>
            <a:ext cx="3695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既要允许 Agent 读取不可信内容完成任务，又要阻断不可信内容对控制流的劫持。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核心洞察：从输入检测转向动作归因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81050" y="1181100"/>
            <a:ext cx="1028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72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论文提出 action-level causal attribution：对每个即将执行的工具调用，判断它主要由用户意图支持，还是由不可信观察中的控制信号驱动。</a:t>
            </a:r>
            <a:endParaRPr sz="172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04900" y="2238375"/>
            <a:ext cx="4000500" cy="533400"/>
          </a:xfrm>
          <a:prstGeom prst="rect">
            <a:avLst/>
          </a:prstGeom>
          <a:solidFill>
            <a:srgbClr val="EAF8F1"/>
          </a:solidFill>
          <a:ln w="9525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合法流程</a:t>
            </a:r>
            <a:endParaRPr sz="180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086600" y="2238375"/>
            <a:ext cx="4000500" cy="533400"/>
          </a:xfrm>
          <a:prstGeom prst="rect">
            <a:avLst/>
          </a:prstGeom>
          <a:solidFill>
            <a:srgbClr val="FFF0F0"/>
          </a:solidFill>
          <a:ln w="9525">
            <a:solidFill>
              <a:srgbClr val="D94D4D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攻击流程</a:t>
            </a:r>
            <a:endParaRPr sz="1800" b="1">
              <a:solidFill>
                <a:srgbClr val="D94D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43000" y="3238500"/>
            <a:ext cx="13811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用户意图</a:t>
            </a:r>
            <a:endParaRPr sz="165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</a:t>
            </a:r>
            <a:endParaRPr sz="165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667125" y="3238500"/>
            <a:ext cx="1381125" cy="781050"/>
          </a:xfrm>
          <a:prstGeom prst="rect">
            <a:avLst/>
          </a:prstGeom>
          <a:solidFill>
            <a:srgbClr val="EAF8F1"/>
          </a:solidFill>
          <a:ln w="9525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65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endParaRPr sz="165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533650" y="3619500"/>
            <a:ext cx="847725" cy="19050"/>
          </a:xfrm>
          <a:prstGeom prst="rect">
            <a:avLst/>
          </a:prstGeom>
          <a:solidFill>
            <a:srgbClr val="20A66A"/>
          </a:solidFill>
          <a:ln w="0">
            <a:solidFill>
              <a:srgbClr val="20A66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381375" y="3457575"/>
            <a:ext cx="28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endParaRPr sz="2100" b="1">
              <a:solidFill>
                <a:srgbClr val="20A6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428750" y="4286250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ctr">
              <a:buNone/>
              <a:def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外部观察主要提供参数和证据</a:t>
            </a:r>
            <a:endParaRPr sz="1350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124700" y="3238500"/>
            <a:ext cx="13811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4D4D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不可信观察</a:t>
            </a:r>
            <a:endParaRPr sz="1650" b="1">
              <a:solidFill>
                <a:srgbClr val="D94D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O't</a:t>
            </a:r>
            <a:endParaRPr sz="1650" b="1">
              <a:solidFill>
                <a:srgbClr val="D94D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639300" y="3238500"/>
            <a:ext cx="1381125" cy="781050"/>
          </a:xfrm>
          <a:prstGeom prst="rect">
            <a:avLst/>
          </a:prstGeom>
          <a:solidFill>
            <a:srgbClr val="FFF0F0"/>
          </a:solidFill>
          <a:ln w="9525">
            <a:solidFill>
              <a:srgbClr val="D94D4D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恶意工具调用</a:t>
            </a:r>
            <a:endParaRPr sz="1650" b="1">
              <a:solidFill>
                <a:srgbClr val="D94D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C't+1</a:t>
            </a:r>
            <a:endParaRPr sz="1650" b="1">
              <a:solidFill>
                <a:srgbClr val="D94D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515350" y="3619500"/>
            <a:ext cx="838200" cy="19050"/>
          </a:xfrm>
          <a:prstGeom prst="rect">
            <a:avLst/>
          </a:prstGeom>
          <a:solidFill>
            <a:srgbClr val="D94D4D"/>
          </a:solidFill>
          <a:ln w="0">
            <a:solidFill>
              <a:srgbClr val="D94D4D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353550" y="3457575"/>
            <a:ext cx="28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2100" b="1">
                <a:solidFill>
                  <a:srgbClr val="D94D4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D94D4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endParaRPr sz="2100" b="1">
              <a:solidFill>
                <a:srgbClr val="D94D4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410450" y="4286250"/>
            <a:ext cx="3238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ctr">
              <a:buNone/>
              <a:def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外部观察本身提供控制效果</a:t>
            </a:r>
            <a:endParaRPr sz="1350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000250" y="5238750"/>
            <a:ext cx="47625" cy="742950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2047875" y="5238750"/>
            <a:ext cx="8143875" cy="742950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171700" y="5372100"/>
            <a:ext cx="788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判别信号</a:t>
            </a:r>
            <a:endParaRPr sz="13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171700" y="5695950"/>
            <a:ext cx="788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如果削弱外部观察的“控制力”后，一个工具调用仍然出现，它更可能是用户任务所需；如果消失或大幅改变，它更可能是注入驱动。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AttriGuard：并行反事实测试工具调用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2159"/>
            <a:ext cx="10820400" cy="3771682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52500" y="5219700"/>
            <a:ext cx="47625" cy="685800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0125" y="5219700"/>
            <a:ext cx="2809875" cy="1049020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23950" y="535305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Original run</a:t>
            </a:r>
            <a:endParaRPr sz="13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23950" y="5676900"/>
            <a:ext cx="2552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正常执行分支使用完整观察，产出高质量工具参数。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67250" y="5219700"/>
            <a:ext cx="47625" cy="6858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714875" y="5219700"/>
            <a:ext cx="2981325" cy="1050290"/>
          </a:xfrm>
          <a:prstGeom prst="rect">
            <a:avLst/>
          </a:prstGeom>
          <a:solidFill>
            <a:srgbClr val="FFF3E8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838700" y="535305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Shadow run</a:t>
            </a:r>
            <a:endParaRPr sz="135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838700" y="5676900"/>
            <a:ext cx="2724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影子分支同步历史，只替换为控制削弱后的观察。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553450" y="5219700"/>
            <a:ext cx="47625" cy="685800"/>
          </a:xfrm>
          <a:prstGeom prst="rect">
            <a:avLst/>
          </a:prstGeom>
          <a:solidFill>
            <a:srgbClr val="20A66A"/>
          </a:solidFill>
          <a:ln w="0">
            <a:solidFill>
              <a:srgbClr val="20A66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601075" y="5219700"/>
            <a:ext cx="2428875" cy="1040765"/>
          </a:xfrm>
          <a:prstGeom prst="rect">
            <a:avLst/>
          </a:prstGeom>
          <a:solidFill>
            <a:srgbClr val="EAF8F1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724900" y="53530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  <a:endParaRPr sz="135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724900" y="5676900"/>
            <a:ext cx="2171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比较两边工具调用；不“存活”的调用被阻断。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算法：在执行前给每个工具调用过闸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5350" y="1219200"/>
            <a:ext cx="438150" cy="438150"/>
          </a:xfrm>
          <a:prstGeom prst="rect">
            <a:avLst/>
          </a:prstGeom>
          <a:solidFill>
            <a:srgbClr val="EAF3F7"/>
          </a:solidFill>
          <a:ln w="9525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6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524000" y="12001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 Agent 先提出动作</a:t>
            </a:r>
            <a:endParaRPr sz="165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524000" y="15240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在当前历史 Ht 下生成响应 Rt 和工具调用集合 Ct。</a:t>
            </a:r>
            <a:endParaRPr sz="1350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04900" y="1676400"/>
            <a:ext cx="19050" cy="400050"/>
          </a:xfrm>
          <a:prstGeom prst="rect">
            <a:avLst/>
          </a:prstGeom>
          <a:solidFill>
            <a:srgbClr val="D7E1EA"/>
          </a:solidFill>
          <a:ln w="0">
            <a:solidFill>
              <a:srgbClr val="D7E1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95350" y="2114550"/>
            <a:ext cx="438150" cy="438150"/>
          </a:xfrm>
          <a:prstGeom prst="rect">
            <a:avLst/>
          </a:prstGeom>
          <a:solidFill>
            <a:srgbClr val="EAF3F7"/>
          </a:solidFill>
          <a:ln w="9525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6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524000" y="20955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削弱新增观察的控制力</a:t>
            </a:r>
            <a:endParaRPr sz="165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524000" y="24193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对上一轮外部观察做层级 attenuation，并缓存为影子观察历史。</a:t>
            </a:r>
            <a:endParaRPr sz="1350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04900" y="2571750"/>
            <a:ext cx="19050" cy="400050"/>
          </a:xfrm>
          <a:prstGeom prst="rect">
            <a:avLst/>
          </a:prstGeom>
          <a:solidFill>
            <a:srgbClr val="D7E1EA"/>
          </a:solidFill>
          <a:ln w="0">
            <a:solidFill>
              <a:srgbClr val="D7E1E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95350" y="3009900"/>
            <a:ext cx="438150" cy="438150"/>
          </a:xfrm>
          <a:prstGeom prst="rect">
            <a:avLst/>
          </a:prstGeom>
          <a:solidFill>
            <a:srgbClr val="EAF3F7"/>
          </a:solidFill>
          <a:ln w="9525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6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24000" y="29908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Teacher-forced shadow replay</a:t>
            </a:r>
            <a:endParaRPr sz="165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487805" y="3500755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影子上下文复用原动作历史，只替换观察历史，避免轨迹漂移混淆归因。</a:t>
            </a:r>
            <a:endParaRPr sz="1350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04900" y="3467100"/>
            <a:ext cx="19050" cy="400050"/>
          </a:xfrm>
          <a:prstGeom prst="rect">
            <a:avLst/>
          </a:prstGeom>
          <a:solidFill>
            <a:srgbClr val="D7E1EA"/>
          </a:solidFill>
          <a:ln w="0">
            <a:solidFill>
              <a:srgbClr val="D7E1E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95350" y="3905250"/>
            <a:ext cx="438150" cy="438150"/>
          </a:xfrm>
          <a:prstGeom prst="rect">
            <a:avLst/>
          </a:prstGeom>
          <a:solidFill>
            <a:srgbClr val="FFF3E8"/>
          </a:solidFill>
          <a:ln w="9525">
            <a:solidFill>
              <a:srgbClr val="EE822F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65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524000" y="38862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Fuzzy survival test</a:t>
            </a:r>
            <a:endParaRPr sz="165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524000" y="421005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按函数名、规范化参数和任务一致性判断 proposed call 是否存活。</a:t>
            </a:r>
            <a:endParaRPr sz="1350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04900" y="4362450"/>
            <a:ext cx="19050" cy="400050"/>
          </a:xfrm>
          <a:prstGeom prst="rect">
            <a:avLst/>
          </a:prstGeom>
          <a:solidFill>
            <a:srgbClr val="D7E1EA"/>
          </a:solidFill>
          <a:ln w="0">
            <a:solidFill>
              <a:srgbClr val="D7E1E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95350" y="4800600"/>
            <a:ext cx="438150" cy="438150"/>
          </a:xfrm>
          <a:prstGeom prst="rect">
            <a:avLst/>
          </a:prstGeom>
          <a:solidFill>
            <a:srgbClr val="EAF3F7"/>
          </a:solidFill>
          <a:ln w="9525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6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524000" y="47815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执行或阻断</a:t>
            </a:r>
            <a:endParaRPr sz="165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524000" y="5105400"/>
            <a:ext cx="857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存活则执行；失败则返回 IPI warning，并让 Agent 继续原任务。</a:t>
            </a:r>
            <a:endParaRPr sz="1350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143000" y="5905500"/>
            <a:ext cx="942975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EE822F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5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关键点：AttriGuard 不要求理解“攻击文本长什么样”，而是把即将执行的动作放进反事实条件下复验。</a:t>
            </a:r>
            <a:endParaRPr sz="15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三个组件：让归因既稳定又不过度阻断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9625" y="1381125"/>
            <a:ext cx="47625" cy="1571625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57250" y="1381125"/>
            <a:ext cx="3190875" cy="1571625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81075" y="1514475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Teacher-forced replay</a:t>
            </a:r>
            <a:endParaRPr sz="13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81075" y="1838325"/>
            <a:ext cx="2933700" cy="1019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固定原执行历史中的动作，只改变观察视图。这样主/影子分支差异主要来自观察控制力，而不是 Agent 随机规划漂移。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476750" y="1381125"/>
            <a:ext cx="47625" cy="1571625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524375" y="1381125"/>
            <a:ext cx="3190875" cy="1571625"/>
          </a:xfrm>
          <a:prstGeom prst="rect">
            <a:avLst/>
          </a:prstGeom>
          <a:solidFill>
            <a:srgbClr val="FFF3E8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648200" y="1514475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Hierarchical attenuation</a:t>
            </a:r>
            <a:endParaRPr sz="135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648200" y="1838325"/>
            <a:ext cx="2933700" cy="1019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逐层削弱三类控制通道：结构化可执行外观、第二人称/指令式语气、因果说服脚手架。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143875" y="1381125"/>
            <a:ext cx="47625" cy="1571625"/>
          </a:xfrm>
          <a:prstGeom prst="rect">
            <a:avLst/>
          </a:prstGeom>
          <a:solidFill>
            <a:srgbClr val="20A66A"/>
          </a:solidFill>
          <a:ln w="0">
            <a:solidFill>
              <a:srgbClr val="20A66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191500" y="1381125"/>
            <a:ext cx="3190875" cy="1571625"/>
          </a:xfrm>
          <a:prstGeom prst="rect">
            <a:avLst/>
          </a:prstGeom>
          <a:solidFill>
            <a:srgbClr val="EAF8F1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315325" y="1514475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Fuzzy survival</a:t>
            </a:r>
            <a:endParaRPr sz="135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15325" y="1838325"/>
            <a:ext cx="2933700" cy="1019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先比函数名，再比规范化参数；若参数不同，用轻量 LLM judge 判断是否仍服务用户任务。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7250" y="3429000"/>
            <a:ext cx="4476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层级控制削弱（λ 越大越严格）</a:t>
            </a:r>
            <a:endParaRPr sz="1725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00125" y="3905250"/>
            <a:ext cx="857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350" b="1">
                <a:solidFill>
                  <a:srgbClr val="005F8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5F8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Tflat</a:t>
            </a:r>
            <a:endParaRPr sz="1350" b="1">
              <a:solidFill>
                <a:srgbClr val="005F8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095500" y="392430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0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结构扁平化</a:t>
            </a:r>
            <a:endParaRPr sz="150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733800" y="394335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{amount:100,to:X} → “金额为 100，收款方为 X”</a:t>
            </a:r>
            <a:endParaRPr sz="1275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1000125" y="4572000"/>
            <a:ext cx="857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350" b="1">
                <a:solidFill>
                  <a:srgbClr val="005F8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5F8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T3p</a:t>
            </a:r>
            <a:endParaRPr sz="1350" b="1">
              <a:solidFill>
                <a:srgbClr val="005F8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095500" y="45910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0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第三人称改写</a:t>
            </a:r>
            <a:endParaRPr sz="150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3733800" y="461010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“你应该发送报告” → “文本称报告应被发送”</a:t>
            </a:r>
            <a:endParaRPr sz="1275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00125" y="5238750"/>
            <a:ext cx="857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350" b="1">
                <a:solidFill>
                  <a:srgbClr val="005F8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005F8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Tdecaus</a:t>
            </a:r>
            <a:endParaRPr sz="1350" b="1">
              <a:solidFill>
                <a:srgbClr val="005F8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095500" y="525780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0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削弱因果脚手架</a:t>
            </a:r>
            <a:endParaRPr sz="1500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733800" y="527685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“因为...所以必须...” → 中性陈述相关性</a:t>
            </a:r>
            <a:endParaRPr sz="1275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实验设置：模型、基准、攻击与指标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14375" y="1381125"/>
            <a:ext cx="2333625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180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14375" y="2000250"/>
            <a:ext cx="2333625" cy="2190750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Gemini-2.5 Flash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GPT-4.1-mini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Qwen3-32B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Llama3.3-70B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524250" y="1381125"/>
            <a:ext cx="2333625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</a:t>
            </a:r>
            <a:endParaRPr sz="180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524250" y="2000250"/>
            <a:ext cx="2333625" cy="2190750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AgentDojo：workspace / Slack / travel / banking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Security Bench：补充测试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334125" y="1381125"/>
            <a:ext cx="2333625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EE822F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</a:t>
            </a:r>
            <a:endParaRPr sz="18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334125" y="2000250"/>
            <a:ext cx="2333625" cy="2190750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IgnorePrevious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Combined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ImportantMessages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ToolKnowledge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另含 adaptive optimization attack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144000" y="1381125"/>
            <a:ext cx="2333625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4D4D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1800" b="1">
              <a:solidFill>
                <a:srgbClr val="D94D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144000" y="2000250"/>
            <a:ext cx="2333625" cy="2190750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BU：干净任务完成率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UA：有攻击时仍完成用户任务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ASR：攻击成功率，越低越好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00125" y="4762500"/>
            <a:ext cx="923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对比基线：13 种 SOTA 防御，覆盖检测型、提示型、训练型、系统隔离型。</a:t>
            </a:r>
            <a:endParaRPr sz="1725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00125" y="523875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0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9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 RQ1-RQ5：有效性、相对 SOTA 的安全-可用性权衡、开销、组件贡献、自适应攻击鲁棒性。</a:t>
            </a:r>
            <a:endParaRPr sz="1500" b="0">
              <a:solidFill>
                <a:srgbClr val="59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主要结果：静态攻击下 ASR 归零，BU 基本保留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33" y="1162050"/>
            <a:ext cx="7235983" cy="310515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03" y="4572000"/>
            <a:ext cx="3404443" cy="1428750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8524875" y="1466850"/>
            <a:ext cx="1762125" cy="838200"/>
          </a:xfrm>
          <a:prstGeom prst="rect">
            <a:avLst/>
          </a:prstGeom>
          <a:solidFill>
            <a:srgbClr val="EAF8F1"/>
          </a:solidFill>
          <a:ln w="13335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405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05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0%</a:t>
            </a:r>
            <a:endParaRPr sz="4050" b="1">
              <a:solidFill>
                <a:srgbClr val="20A6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096250" y="2428875"/>
            <a:ext cx="3143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AgentDojo 四类静态攻击中，AttriGuard 在主要实验里将 ASR 压到 0%，图中空柱表示 0 而不是缺失数据。</a:t>
            </a:r>
            <a:endParaRPr sz="15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96250" y="3752850"/>
            <a:ext cx="2857500" cy="514350"/>
          </a:xfrm>
          <a:prstGeom prst="rect">
            <a:avLst/>
          </a:prstGeom>
          <a:solidFill>
            <a:srgbClr val="EAF3F7"/>
          </a:solidFill>
          <a:ln w="9525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 保持可比</a:t>
            </a:r>
            <a:endParaRPr sz="180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96250" y="4457700"/>
            <a:ext cx="3143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0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 显示干净任务完成率没有明显退化；表 1 中 AttriGuard 在两个模型的平均 ASR 均为 0%。</a:t>
            </a:r>
            <a:endParaRPr sz="150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04850" y="6048375"/>
            <a:ext cx="895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900" b="0">
                <a:solidFill>
                  <a:srgbClr val="7A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7A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图源：paper Figure 2/3；表 1 对比了 10 个主要基线 + AttriGuard。</a:t>
            </a:r>
            <a:endParaRPr sz="900" b="0">
              <a:solidFill>
                <a:srgbClr val="7A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4400550"/>
            <a:ext cx="5334000" cy="1809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04850" y="4648200"/>
            <a:ext cx="2190750" cy="438150"/>
          </a:xfrm>
          <a:prstGeom prst="rect">
            <a:avLst/>
          </a:prstGeom>
          <a:solidFill>
            <a:srgbClr val="EAF3F7"/>
          </a:solidFill>
          <a:ln w="11430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575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BU（Benign Utility）</a:t>
            </a:r>
            <a:endParaRPr sz="1575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086100" y="4572000"/>
            <a:ext cx="409575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 的含义：在干净输入上，AttriGuard 的任务完成率与无防御基线整体接近；主要异常是 Llama3.3-70B 在 Travel 场景下降明显，论文将其归因于复杂工具链和模型随机性。</a:t>
            </a:r>
            <a:endParaRPr sz="1350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42950" y="5695950"/>
            <a:ext cx="657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425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结论：安全收益主要来自 ASR 归零，而不是牺牲 BU 换安全。</a:t>
            </a:r>
            <a:endParaRPr sz="1425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71500" y="6057900"/>
            <a:ext cx="72390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04850" y="6096000"/>
            <a:ext cx="666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r>
              <a:rPr sz="825">
                <a:solidFill>
                  <a:srgbClr val="7A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图源：paper Figure 2/3；表 1 对比了 10 个主要基线 + AttriGuard。</a:t>
            </a:r>
            <a:endParaRPr sz="825">
              <a:solidFill>
                <a:srgbClr val="7A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成本与自适应攻击：更像“中等开销的强闸门”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265301"/>
            <a:ext cx="3905250" cy="2936748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381" y="1238250"/>
            <a:ext cx="3906738" cy="2000250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3714750"/>
            <a:ext cx="3733800" cy="1905000"/>
          </a:xfrm>
          <a:prstGeom prst="rect">
            <a:avLst/>
          </a:prstGeom>
        </p:spPr>
      </p:pic>
      <p:sp>
        <p:nvSpPr>
          <p:cNvPr id="34" name="矩形 33"/>
          <p:cNvSpPr>
            <a:spLocks noGrp="1"/>
          </p:cNvSpPr>
          <p:nvPr/>
        </p:nvSpPr>
        <p:spPr>
          <a:xfrm>
            <a:off x="762000" y="4476750"/>
            <a:ext cx="47625" cy="104775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09625" y="4476750"/>
            <a:ext cx="3857625" cy="1306830"/>
          </a:xfrm>
          <a:prstGeom prst="rect">
            <a:avLst/>
          </a:prstGeom>
          <a:solidFill>
            <a:srgbClr val="FFF3E8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33450" y="4610100"/>
            <a:ext cx="3600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开销</a:t>
            </a:r>
            <a:endParaRPr sz="135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33450" y="4933950"/>
            <a:ext cx="3600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/ Llama 上端到端延迟约 32.40s / 41.22s，明显高于无防御，但远低于严格隔离类系统的百秒级开销。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191125" y="5772150"/>
            <a:ext cx="47625" cy="666750"/>
          </a:xfrm>
          <a:prstGeom prst="rect">
            <a:avLst/>
          </a:prstGeom>
          <a:solidFill>
            <a:srgbClr val="20A66A"/>
          </a:solidFill>
          <a:ln w="0">
            <a:solidFill>
              <a:srgbClr val="20A66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238750" y="5772150"/>
            <a:ext cx="5381625" cy="666750"/>
          </a:xfrm>
          <a:prstGeom prst="rect">
            <a:avLst/>
          </a:prstGeom>
          <a:solidFill>
            <a:srgbClr val="EAF8F1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362575" y="5905500"/>
            <a:ext cx="512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自适应鲁棒性</a:t>
            </a:r>
            <a:endParaRPr sz="135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62575" y="6229350"/>
            <a:ext cx="51244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在白盒优化攻击下，AttriGuard adaptive ASR 为 6.56%（Gemini）和 9.84%（Llama），强基线常升至 29%-82%。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953000" y="3448050"/>
            <a:ext cx="6143625" cy="27813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191125" y="3667125"/>
            <a:ext cx="2333625" cy="438150"/>
          </a:xfrm>
          <a:prstGeom prst="rect">
            <a:avLst/>
          </a:prstGeom>
          <a:solidFill>
            <a:srgbClr val="EAF8F1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575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白盒自适应攻击</a:t>
            </a:r>
            <a:endParaRPr sz="1575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191125" y="4286250"/>
            <a:ext cx="1524000" cy="89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Gemini</a:t>
            </a:r>
            <a:endParaRPr sz="2100" b="1">
              <a:solidFill>
                <a:srgbClr val="20A6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6.56%</a:t>
            </a:r>
            <a:endParaRPr sz="2100" b="1">
              <a:solidFill>
                <a:srgbClr val="20A6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905625" y="4286250"/>
            <a:ext cx="1524000" cy="895350"/>
          </a:xfrm>
          <a:prstGeom prst="rect">
            <a:avLst/>
          </a:prstGeom>
          <a:solidFill>
            <a:srgbClr val="FFFFFF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Llama</a:t>
            </a:r>
            <a:endParaRPr sz="2100" b="1">
              <a:solidFill>
                <a:srgbClr val="20A6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20A6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9.84%</a:t>
            </a:r>
            <a:endParaRPr sz="2100" b="1">
              <a:solidFill>
                <a:srgbClr val="20A6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658225" y="3714750"/>
            <a:ext cx="2095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5: AttriGuard 在 adaptive optimization attack 下仍保持个位数 ASR；PIGuard / PromptArmor / MELON 等静态表现强的基线会显著退化。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304155" y="5347335"/>
            <a:ext cx="5572125" cy="716280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425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查询预算 200 → 500：AttriGuard ASR 仍为 6.56%（Gemini），说明失败不只是搜索预算不足。</a:t>
            </a:r>
            <a:endParaRPr sz="1425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4953000" y="6057900"/>
            <a:ext cx="619125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4953000" y="6057900"/>
            <a:ext cx="5429250" cy="400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4953000" y="6324600"/>
            <a:ext cx="5715000" cy="304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5143500" y="6553200"/>
            <a:ext cx="5381625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文本框 25"/>
          <p:cNvSpPr>
            <a:spLocks noGrp="1"/>
          </p:cNvSpPr>
          <p:nvPr/>
        </p:nvSpPr>
        <p:spPr>
          <a:xfrm>
            <a:off x="1381125" y="323850"/>
            <a:ext cx="914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l">
              <a:buNone/>
            </a:pPr>
            <a:r>
              <a:rPr sz="22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局限、评价与课堂讨论点</a:t>
            </a:r>
            <a:endParaRPr sz="22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-25400"/>
            <a:ext cx="1051560" cy="105156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390650" y="895350"/>
            <a:ext cx="1600200" cy="38100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42950" y="64389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 et al., AttriGuard, arXiv:2603.10749v2 (2026)</a:t>
            </a:r>
            <a:endParaRPr sz="825" b="0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668000" y="64389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r">
              <a:buNone/>
              <a:def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A879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/ 10</a:t>
            </a:r>
            <a:endParaRPr sz="900" b="1">
              <a:solidFill>
                <a:srgbClr val="7A879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12192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作者明确承认：AttriGuard 不是形式化可证明鲁棒的方案，而是一个实用的运行时归因闸门。</a:t>
            </a:r>
            <a:endParaRPr sz="1725" b="1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4875" y="2000250"/>
            <a:ext cx="47625" cy="1381125"/>
          </a:xfrm>
          <a:prstGeom prst="rect">
            <a:avLst/>
          </a:prstGeom>
          <a:solidFill>
            <a:srgbClr val="EE822F"/>
          </a:solidFill>
          <a:ln w="0">
            <a:solidFill>
              <a:srgbClr val="EE822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2000250"/>
            <a:ext cx="3095625" cy="1381125"/>
          </a:xfrm>
          <a:prstGeom prst="rect">
            <a:avLst/>
          </a:prstGeom>
          <a:solidFill>
            <a:srgbClr val="FFF3E8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763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 1：长链路误报</a:t>
            </a:r>
            <a:endParaRPr sz="135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076325" y="2457450"/>
            <a:ext cx="2838450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多步、工具密集的良性任务中，每个合法调用都要通过局部反事实测试，随机性和参数差异会累积。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524375" y="2000250"/>
            <a:ext cx="47625" cy="1381125"/>
          </a:xfrm>
          <a:prstGeom prst="rect">
            <a:avLst/>
          </a:prstGeom>
          <a:solidFill>
            <a:srgbClr val="005F85"/>
          </a:solidFill>
          <a:ln w="0">
            <a:solidFill>
              <a:srgbClr val="005F85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572000" y="2000250"/>
            <a:ext cx="3095625" cy="1381125"/>
          </a:xfrm>
          <a:prstGeom prst="rect">
            <a:avLst/>
          </a:prstGeom>
          <a:solidFill>
            <a:srgbClr val="F4F8FB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6958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 2：依赖辅助 LLM</a:t>
            </a:r>
            <a:endParaRPr sz="135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695825" y="2457450"/>
            <a:ext cx="2838450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控制削弱由提示式重写实现，可能受辅助模型更新影响；未来可用微调/偏好优化稳定该模块。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143875" y="2000250"/>
            <a:ext cx="47625" cy="1381125"/>
          </a:xfrm>
          <a:prstGeom prst="rect">
            <a:avLst/>
          </a:prstGeom>
          <a:solidFill>
            <a:srgbClr val="D94D4D"/>
          </a:solidFill>
          <a:ln w="0">
            <a:solidFill>
              <a:srgbClr val="D94D4D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91500" y="2000250"/>
            <a:ext cx="3095625" cy="1381125"/>
          </a:xfrm>
          <a:prstGeom prst="rect">
            <a:avLst/>
          </a:prstGeom>
          <a:solidFill>
            <a:srgbClr val="FFF0F0"/>
          </a:solidFill>
          <a:ln w="9525">
            <a:solidFill>
              <a:srgbClr val="D7E1E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315325" y="2133600"/>
            <a:ext cx="2838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3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D94D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 3：适用边界</a:t>
            </a:r>
            <a:endParaRPr sz="1350" b="1">
              <a:solidFill>
                <a:srgbClr val="D94D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315325" y="2457450"/>
            <a:ext cx="2838450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当用户明确授权外部内容决定关键动作，或代码/结构化 schema 中内容与控制难分时，因果归因会更难。</a:t>
            </a:r>
            <a:endParaRPr sz="12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47750" y="4095750"/>
            <a:ext cx="14287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5F85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5F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我的评价</a:t>
            </a:r>
            <a:endParaRPr sz="1800" b="1">
              <a:solidFill>
                <a:srgbClr val="005F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714625" y="4048125"/>
            <a:ext cx="8096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t"/>
          <a:lstStyle/>
          <a:p>
            <a:pPr algn="l">
              <a:buNone/>
              <a:def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这篇工作的价值在于把防御问题从“文本分类”换成“动作归因”，对未知 payload 更有泛化希望；但它把一次执行变成带影子分支的运行时系统，工程成本和交互延迟是落地时必须处理的问题。</a:t>
            </a:r>
            <a:endParaRPr sz="1575" b="0">
              <a:solidFill>
                <a:srgbClr val="18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285875" y="5381625"/>
            <a:ext cx="9525000" cy="590550"/>
          </a:xfrm>
          <a:prstGeom prst="rect">
            <a:avLst/>
          </a:prstGeom>
          <a:solidFill>
            <a:srgbClr val="EAF8F1"/>
          </a:solidFill>
          <a:ln w="11430">
            <a:solidFill>
              <a:srgbClr val="20A66A"/>
            </a:solidFill>
            <a:prstDash val="solid"/>
          </a:ln>
        </p:spPr>
        <p:txBody>
          <a:bodyPr wrap="square" lIns="76200" tIns="38100" rIns="76200" bIns="38100" anchor="ctr"/>
          <a:lstStyle/>
          <a:p>
            <a:pPr algn="ctr">
              <a:buNone/>
              <a:def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0A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讨论问题：如果把“阻断”改成“用户确认”，能否在长链路任务里取得更好的安全-可用性折中？</a:t>
            </a:r>
            <a:endParaRPr sz="1650" b="1">
              <a:solidFill>
                <a:srgbClr val="20A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2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3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4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5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6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7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8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9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10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11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ags/tag12.xml><?xml version="1.0" encoding="utf-8"?>
<p:tagLst xmlns:p="http://schemas.openxmlformats.org/presentationml/2006/main">
  <p:tag name="KSO_WM_DIAGRAM_VIRTUALLY_FRAME" val="{&quot;height&quot;:82.7,&quot;left&quot;:75,&quot;top&quot;:411,&quot;width&quot;:793.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3706</Words>
  <Application>WPS 演示</Application>
  <PresentationFormat>Converted Presentation</PresentationFormat>
  <Paragraphs>299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断南</cp:lastModifiedBy>
  <cp:revision>1</cp:revision>
  <dcterms:created xsi:type="dcterms:W3CDTF">2026-06-18T05:00:09Z</dcterms:created>
  <dcterms:modified xsi:type="dcterms:W3CDTF">2026-06-18T05:00:09Z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74FAEE995BFD42758F44F22F9991EFFD_12</vt:lpwstr>
  </property>
  <property fmtid="{D5CDD505-2E9C-101B-9397-08002B2CF9AE}" pid="3" name="KSOProductBuildVer">
    <vt:lpwstr>2052-12.1.0.26895</vt:lpwstr>
  </property>
</Properties>
</file>